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2"/>
  </p:notesMasterIdLst>
  <p:sldIdLst>
    <p:sldId id="256" r:id="rId2"/>
    <p:sldId id="263" r:id="rId3"/>
    <p:sldId id="257" r:id="rId4"/>
    <p:sldId id="258" r:id="rId5"/>
    <p:sldId id="264" r:id="rId6"/>
    <p:sldId id="265" r:id="rId7"/>
    <p:sldId id="266" r:id="rId8"/>
    <p:sldId id="260" r:id="rId9"/>
    <p:sldId id="261" r:id="rId10"/>
    <p:sldId id="262" r:id="rId11"/>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0"/>
  </p:normalViewPr>
  <p:slideViewPr>
    <p:cSldViewPr snapToGrid="0" snapToObjects="1">
      <p:cViewPr varScale="1">
        <p:scale>
          <a:sx n="51" d="100"/>
          <a:sy n="51" d="100"/>
        </p:scale>
        <p:origin x="85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3981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p:cNvSpPr>
          <p:nvPr>
            <p:ph type="pic" sz="quarter" idx="14" hasCustomPrompt="1"/>
          </p:nvPr>
        </p:nvSpPr>
        <p:spPr>
          <a:xfrm>
            <a:off x="5503863" y="1354138"/>
            <a:ext cx="5322887" cy="448151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F695BADC-4FD4-44DC-8CD5-A8F9C57A8D9D}" type="datetime1">
              <a:rPr lang="en-US" smtClean="0"/>
              <a:t>8/4/2026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20709536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D849E410-BE9E-427B-BCB5-604E33C4348E}" type="datetime1">
              <a:rPr lang="en-US" smtClean="0"/>
              <a:t>8/4/2026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68488826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p:cNvSpPr>
          <p:nvPr>
            <p:ph type="pic" sz="quarter" idx="13" hasCustomPrompt="1"/>
          </p:nvPr>
        </p:nvSpPr>
        <p:spPr>
          <a:xfrm>
            <a:off x="-791" y="1371600"/>
            <a:ext cx="6706392" cy="54864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27F8DDA4-3B80-4E8A-A8F5-521F73BF9127}" type="slidenum">
              <a:rPr lang="en-US" smtClean="0"/>
              <a:t>‹#›</a:t>
            </a:fld>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fld id="{D666FC17-48E9-4EB3-BB0E-C81F4FBF1D65}" type="datetime1">
              <a:rPr lang="en-US" smtClean="0"/>
              <a:t>8/4/2026</a:t>
            </a:fld>
            <a:endParaRPr lang="en-US"/>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r>
              <a:rPr lang="en-US"/>
              <a:t>Sample Footer Text</a:t>
            </a:r>
          </a:p>
        </p:txBody>
      </p:sp>
    </p:spTree>
    <p:extLst>
      <p:ext uri="{BB962C8B-B14F-4D97-AF65-F5344CB8AC3E}">
        <p14:creationId xmlns:p14="http://schemas.microsoft.com/office/powerpoint/2010/main" val="179075938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DFE1FB2C-1600-49CF-ABE3-F2743AC651C3}" type="datetime1">
              <a:rPr lang="en-US" smtClean="0"/>
              <a:t>8/4/2026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75534541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dirty="0"/>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F205D05A-BA39-4B06-B20A-BF32BF994A68}" type="datetime1">
              <a:rPr lang="en-US" smtClean="0"/>
              <a:t>8/4/2026</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55721975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dirty="0"/>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fld id="{6C2206C6-C6B2-4E06-A7AA-7F308C2F851D}" type="datetime1">
              <a:rPr lang="en-US" smtClean="0"/>
              <a:t>8/4/2026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42491142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dirty="0"/>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fld id="{D1188C7A-78DB-4967-8643-716598F25D97}" type="datetime1">
              <a:rPr lang="en-US" smtClean="0"/>
              <a:t>8/4/2026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27F8DDA4-3B80-4E8A-A8F5-521F73BF9127}" type="slidenum">
              <a:rPr lang="en-US" smtClean="0"/>
              <a:t>‹#›</a:t>
            </a:fld>
            <a:endParaRPr lang="en-US"/>
          </a:p>
        </p:txBody>
      </p:sp>
      <p:sp>
        <p:nvSpPr>
          <p:cNvPr id="14" name="Picture Placeholder 13">
            <a:extLst>
              <a:ext uri="{FF2B5EF4-FFF2-40B4-BE49-F238E27FC236}">
                <a16:creationId xmlns:a16="http://schemas.microsoft.com/office/drawing/2014/main" id="{1DA62460-475C-38E7-135D-916B98438D09}"/>
              </a:ext>
            </a:extLst>
          </p:cNvPr>
          <p:cNvSpPr>
            <a:spLocks noGrp="1"/>
          </p:cNvSpPr>
          <p:nvPr>
            <p:ph type="pic" sz="quarter" idx="13" hasCustomPrompt="1"/>
          </p:nvPr>
        </p:nvSpPr>
        <p:spPr>
          <a:xfrm>
            <a:off x="8763000" y="3415504"/>
            <a:ext cx="3429000" cy="3442496"/>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13862001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2E394BC2-7D23-4352-8AF3-6A490B666FB8}" type="datetime1">
              <a:rPr lang="en-US" smtClean="0"/>
              <a:t>8/4/2026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25572833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4758A600-6D87-4303-8A2F-171F72E22375}" type="datetime1">
              <a:rPr lang="en-US" smtClean="0"/>
              <a:t>8/4/2026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0294112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1242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FBFC4637-11C9-448C-8D4C-0CD0AE46C949}" type="datetime1">
              <a:rPr lang="en-US" smtClean="0"/>
              <a:t>8/4/2026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13025535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5486400" cy="55626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F79E3CBC-A2D6-42D3-976A-174CF7E26BA0}" type="datetime1">
              <a:rPr lang="en-US" smtClean="0"/>
              <a:t>8/4/2026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85269689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4800601" y="0"/>
            <a:ext cx="73914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917E8D86-1037-438D-973A-F8D03A01BF16}" type="datetime1">
              <a:rPr lang="en-US" smtClean="0"/>
              <a:t>8/4/2026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32615970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7391400" y="0"/>
            <a:ext cx="48006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B0ECE3E5-DEB1-48A2-A1A9-7ABBE9A784F7}" type="datetime1">
              <a:rPr lang="en-US" smtClean="0"/>
              <a:t>8/4/2026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538671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78486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2B950759-980B-4783-B58D-96B69BC77CA8}" type="datetime1">
              <a:rPr lang="en-US" smtClean="0"/>
              <a:t>8/4/2026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20325132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p:cNvSpPr>
          <p:nvPr>
            <p:ph type="pic" sz="quarter" idx="13" hasCustomPrompt="1"/>
          </p:nvPr>
        </p:nvSpPr>
        <p:spPr>
          <a:xfrm>
            <a:off x="0" y="1"/>
            <a:ext cx="12192000" cy="6858000"/>
          </a:xfrm>
          <a:custGeom>
            <a:avLst/>
            <a:gdLst>
              <a:gd name="connsiteX0" fmla="*/ 480060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5562599 h 6858000"/>
              <a:gd name="connsiteX5" fmla="*/ 4800600 w 12192000"/>
              <a:gd name="connsiteY5" fmla="*/ 55625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fld id="{75D8CBF3-D33E-488B-BE09-B302C3504935}" type="datetime1">
              <a:rPr lang="en-US" smtClean="0"/>
              <a:t>8/4/2026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06563980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dirty="0"/>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41148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fld id="{49885C97-4180-47D6-BA3E-83C74E1B1903}" type="datetime1">
              <a:rPr lang="en-US" smtClean="0"/>
              <a:t>8/4/2026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86836985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r>
              <a:rPr lang="en-US"/>
              <a:t>Sample Footer Text</a:t>
            </a:r>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371600"/>
            <a:ext cx="7391402" cy="54864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9C7720E7-9D70-4C91-9C55-B922EC8FF4E1}" type="datetime1">
              <a:rPr lang="en-US" smtClean="0"/>
              <a:t>8/4/2026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1851135"/>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
            <a:ext cx="4800600" cy="482237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fld id="{A25B1B0E-4CBA-421A-9FF9-BD907EE313C7}" type="datetime1">
              <a:rPr lang="en-US" smtClean="0"/>
              <a:t>8/4/2026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619193399"/>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E5E07D1D-D1D5-479B-A8E5-C908666570C8}" type="datetime1">
              <a:rPr lang="en-US" smtClean="0"/>
              <a:t>8/4/2026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7F8DDA4-3B80-4E8A-A8F5-521F73BF9127}" type="slidenum">
              <a:rPr lang="en-US" smtClean="0"/>
              <a:t>‹#›</a:t>
            </a:fld>
            <a:endParaRPr lang="en-US"/>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1189423"/>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fld id="{90907655-BDED-4A88-9727-947E02456645}" type="datetime1">
              <a:rPr lang="en-US" smtClean="0"/>
              <a:t>8/4/2026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523267870"/>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dirty="0"/>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r>
              <a:rPr lang="en-US"/>
              <a:t>Sample Footer Text</a:t>
            </a:r>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fld id="{D348C769-7AB4-4647-BD58-CC3E9CA66889}" type="datetime1">
              <a:rPr lang="en-US" smtClean="0"/>
              <a:t>8/4/2026</a:t>
            </a:fld>
            <a:endParaRPr lang="en-US"/>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100045315"/>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B3C0EDEC-0890-4E6D-9DE0-ECAF543851A7}" type="datetime1">
              <a:rPr lang="en-US" smtClean="0"/>
              <a:t>8/4/2026</a:t>
            </a:fld>
            <a:endParaRPr lang="en-US"/>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332827067"/>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2DD88318-BA47-4AD0-805B-25EB53D81BBB}" type="datetime1">
              <a:rPr lang="en-US" smtClean="0"/>
              <a:t>8/4/2026</a:t>
            </a:fld>
            <a:endParaRPr lang="en-US"/>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507586249"/>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30AD3F20-2AB6-4A04-8E99-A7FB006776B6}" type="datetime1">
              <a:rPr lang="en-US" smtClean="0"/>
              <a:t>8/4/2026</a:t>
            </a:fld>
            <a:endParaRPr lang="en-US"/>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585561312"/>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fld id="{3AEA2087-1351-4A66-BC4B-B8C73F209E6A}" type="datetime1">
              <a:rPr lang="en-US" smtClean="0"/>
              <a:t>8/4/2026</a:t>
            </a:fld>
            <a:endParaRPr lang="en-US"/>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923083074"/>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fld id="{A8EB468F-DE53-43FF-8B87-9F03EBF19C21}" type="datetime1">
              <a:rPr lang="en-US" smtClean="0"/>
              <a:t>8/4/2026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195128069"/>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fld id="{77D9A748-B116-46F1-81D5-0BE225FE4EB1}" type="datetime1">
              <a:rPr lang="en-US" smtClean="0"/>
              <a:t>8/4/2026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959414070"/>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2746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82B9AEC8-204B-4AD5-8041-BCAF36A74EBE}" type="datetime1">
              <a:rPr lang="en-US" smtClean="0"/>
              <a:t>8/4/2026</a:t>
            </a:fld>
            <a:endParaRPr lang="en-US"/>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2124824140"/>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Lst>
  <p:hf sldNum="0" hdr="0" ftr="0" dt="0"/>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8" pos="2160">
          <p15:clr>
            <a:srgbClr val="F26B43"/>
          </p15:clr>
        </p15:guide>
        <p15:guide id="20" pos="5520">
          <p15:clr>
            <a:srgbClr val="F26B43"/>
          </p15:clr>
        </p15:guide>
        <p15:guide id="21" pos="5952">
          <p15:clr>
            <a:srgbClr val="F26B43"/>
          </p15:clr>
        </p15:guide>
        <p15:guide id="22" pos="6384">
          <p15:clr>
            <a:srgbClr val="F26B43"/>
          </p15:clr>
        </p15:guide>
        <p15:guide id="24" pos="6816">
          <p15:clr>
            <a:srgbClr val="F26B43"/>
          </p15:clr>
        </p15:guide>
        <p15:guide id="25" pos="7248">
          <p15:clr>
            <a:srgbClr val="F26B43"/>
          </p15:clr>
        </p15:guide>
        <p15:guide id="26" pos="5088">
          <p15:clr>
            <a:srgbClr val="F26B43"/>
          </p15:clr>
        </p15:guide>
        <p15:guide id="27" pos="4656">
          <p15:clr>
            <a:srgbClr val="F26B43"/>
          </p15:clr>
        </p15:guide>
        <p15:guide id="28" pos="4224">
          <p15:clr>
            <a:srgbClr val="F26B43"/>
          </p15:clr>
        </p15:guide>
        <p15:guide id="29" pos="2592">
          <p15:clr>
            <a:srgbClr val="F26B43"/>
          </p15:clr>
        </p15:guide>
        <p15:guide id="30" pos="3024">
          <p15:clr>
            <a:srgbClr val="F26B43"/>
          </p15:clr>
        </p15:guide>
        <p15:guide id="31" pos="3456">
          <p15:clr>
            <a:srgbClr val="F26B43"/>
          </p15:clr>
        </p15:guide>
        <p15:guide id="32" orient="horz" pos="6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8.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8.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8.xml"/><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7.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5.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6.png"/><Relationship Id="rId7"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slideLayout" Target="../slideLayouts/slideLayout28.xml"/><Relationship Id="rId6" Type="http://schemas.openxmlformats.org/officeDocument/2006/relationships/image" Target="../media/image17.png"/><Relationship Id="rId5" Type="http://schemas.openxmlformats.org/officeDocument/2006/relationships/image" Target="../media/image14.png"/><Relationship Id="rId4" Type="http://schemas.openxmlformats.org/officeDocument/2006/relationships/image" Target="../media/image27.png"/><Relationship Id="rId9" Type="http://schemas.openxmlformats.org/officeDocument/2006/relationships/image" Target="../media/image28.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9.png"/><Relationship Id="rId7"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2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3.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34.png"/><Relationship Id="rId7" Type="http://schemas.openxmlformats.org/officeDocument/2006/relationships/image" Target="../media/image27.png"/><Relationship Id="rId2" Type="http://schemas.openxmlformats.org/officeDocument/2006/relationships/image" Target="../media/image7.png"/><Relationship Id="rId1" Type="http://schemas.openxmlformats.org/officeDocument/2006/relationships/slideLayout" Target="../slideLayouts/slideLayout28.xml"/><Relationship Id="rId6" Type="http://schemas.openxmlformats.org/officeDocument/2006/relationships/image" Target="../media/image32.png"/><Relationship Id="rId5" Type="http://schemas.openxmlformats.org/officeDocument/2006/relationships/image" Target="../media/image13.png"/><Relationship Id="rId4" Type="http://schemas.openxmlformats.org/officeDocument/2006/relationships/image" Target="../media/image11.png"/><Relationship Id="rId9" Type="http://schemas.openxmlformats.org/officeDocument/2006/relationships/image" Target="../media/image35.png"/></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7.png"/><Relationship Id="rId7"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8.xml"/><Relationship Id="rId6" Type="http://schemas.openxmlformats.org/officeDocument/2006/relationships/image" Target="../media/image31.png"/><Relationship Id="rId5" Type="http://schemas.openxmlformats.org/officeDocument/2006/relationships/image" Target="../media/image36.png"/><Relationship Id="rId10" Type="http://schemas.openxmlformats.org/officeDocument/2006/relationships/image" Target="../media/image37.png"/><Relationship Id="rId4" Type="http://schemas.openxmlformats.org/officeDocument/2006/relationships/image" Target="../media/image14.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7.png"/><Relationship Id="rId7"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28.xml"/><Relationship Id="rId6" Type="http://schemas.openxmlformats.org/officeDocument/2006/relationships/image" Target="../media/image22.png"/><Relationship Id="rId5" Type="http://schemas.openxmlformats.org/officeDocument/2006/relationships/image" Target="../media/image23.png"/><Relationship Id="rId4" Type="http://schemas.openxmlformats.org/officeDocument/2006/relationships/image" Target="../media/image16.png"/><Relationship Id="rId9" Type="http://schemas.openxmlformats.org/officeDocument/2006/relationships/image" Target="../media/image40.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26.png"/><Relationship Id="rId5" Type="http://schemas.openxmlformats.org/officeDocument/2006/relationships/image" Target="../media/image30.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FE7FF"/>
        </a:solidFill>
        <a:effectLst/>
      </p:bgPr>
    </p:bg>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142BBA65-3828-690F-EA1F-FA18966BF12A}"/>
              </a:ext>
            </a:extLst>
          </p:cNvPr>
          <p:cNvPicPr>
            <a:picLocks noChangeAspect="1"/>
          </p:cNvPicPr>
          <p:nvPr/>
        </p:nvPicPr>
        <p:blipFill>
          <a:blip r:embed="rId3"/>
          <a:stretch>
            <a:fillRect/>
          </a:stretch>
        </p:blipFill>
        <p:spPr>
          <a:xfrm>
            <a:off x="5202936" y="0"/>
            <a:ext cx="7013734" cy="6858000"/>
          </a:xfrm>
          <a:prstGeom prst="rect">
            <a:avLst/>
          </a:prstGeom>
        </p:spPr>
      </p:pic>
      <p:pic>
        <p:nvPicPr>
          <p:cNvPr id="5" name="Image 0" descr="/mnt/user-data/uploads/CoE_logo.png"/>
          <p:cNvPicPr>
            <a:picLocks noChangeAspect="1"/>
          </p:cNvPicPr>
          <p:nvPr/>
        </p:nvPicPr>
        <p:blipFill>
          <a:blip r:embed="rId4"/>
          <a:stretch>
            <a:fillRect/>
          </a:stretch>
        </p:blipFill>
        <p:spPr>
          <a:xfrm>
            <a:off x="305571" y="296910"/>
            <a:ext cx="1546378" cy="531372"/>
          </a:xfrm>
          <a:prstGeom prst="rect">
            <a:avLst/>
          </a:prstGeom>
        </p:spPr>
      </p:pic>
      <p:sp>
        <p:nvSpPr>
          <p:cNvPr id="6" name="Shape 3"/>
          <p:cNvSpPr/>
          <p:nvPr/>
        </p:nvSpPr>
        <p:spPr>
          <a:xfrm>
            <a:off x="566928" y="1421946"/>
            <a:ext cx="2331720" cy="384048"/>
          </a:xfrm>
          <a:prstGeom prst="roundRect">
            <a:avLst>
              <a:gd name="adj" fmla="val 50000"/>
            </a:avLst>
          </a:prstGeom>
          <a:solidFill>
            <a:srgbClr val="8874C0"/>
          </a:solidFill>
          <a:ln/>
        </p:spPr>
        <p:txBody>
          <a:bodyPr/>
          <a:lstStyle/>
          <a:p>
            <a:endParaRPr lang="en-IN"/>
          </a:p>
        </p:txBody>
      </p:sp>
      <p:sp>
        <p:nvSpPr>
          <p:cNvPr id="7" name="Text 4"/>
          <p:cNvSpPr/>
          <p:nvPr/>
        </p:nvSpPr>
        <p:spPr>
          <a:xfrm>
            <a:off x="566928" y="1421946"/>
            <a:ext cx="2331720" cy="38404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POWER BI PROJECT</a:t>
            </a:r>
            <a:endParaRPr lang="en-US" sz="1200" dirty="0"/>
          </a:p>
        </p:txBody>
      </p:sp>
      <p:sp>
        <p:nvSpPr>
          <p:cNvPr id="8" name="Text 5"/>
          <p:cNvSpPr/>
          <p:nvPr/>
        </p:nvSpPr>
        <p:spPr>
          <a:xfrm>
            <a:off x="548640" y="2282643"/>
            <a:ext cx="4385310" cy="1737360"/>
          </a:xfrm>
          <a:prstGeom prst="rect">
            <a:avLst/>
          </a:prstGeom>
          <a:noFill/>
          <a:ln/>
        </p:spPr>
        <p:txBody>
          <a:bodyPr wrap="square" lIns="0" tIns="0" rIns="0" bIns="0" rtlCol="0" anchor="ctr"/>
          <a:lstStyle/>
          <a:p>
            <a:pPr marL="0" indent="0">
              <a:lnSpc>
                <a:spcPct val="108000"/>
              </a:lnSpc>
              <a:buNone/>
            </a:pPr>
            <a:r>
              <a:rPr lang="en-US" sz="4600" b="1" dirty="0">
                <a:solidFill>
                  <a:srgbClr val="4A3F6B"/>
                </a:solidFill>
                <a:latin typeface="Cambria" pitchFamily="34" charset="0"/>
                <a:ea typeface="Cambria" pitchFamily="34" charset="-122"/>
                <a:cs typeface="Cambria" pitchFamily="34" charset="-120"/>
              </a:rPr>
              <a:t>E-commerce Customer</a:t>
            </a:r>
            <a:endParaRPr lang="en-US" sz="4600" dirty="0"/>
          </a:p>
          <a:p>
            <a:pPr marL="0" indent="0">
              <a:lnSpc>
                <a:spcPct val="108000"/>
              </a:lnSpc>
              <a:buNone/>
            </a:pPr>
            <a:r>
              <a:rPr lang="en-US" sz="4600" b="1" dirty="0">
                <a:solidFill>
                  <a:srgbClr val="4A3F6B"/>
                </a:solidFill>
                <a:latin typeface="Cambria" pitchFamily="34" charset="0"/>
                <a:ea typeface="Cambria" pitchFamily="34" charset="-122"/>
                <a:cs typeface="Cambria" pitchFamily="34" charset="-120"/>
              </a:rPr>
              <a:t>Analytics</a:t>
            </a:r>
            <a:endParaRPr lang="en-US" sz="4600" dirty="0"/>
          </a:p>
        </p:txBody>
      </p:sp>
      <p:sp>
        <p:nvSpPr>
          <p:cNvPr id="9" name="Text 6"/>
          <p:cNvSpPr/>
          <p:nvPr/>
        </p:nvSpPr>
        <p:spPr>
          <a:xfrm>
            <a:off x="548640" y="4688676"/>
            <a:ext cx="4385310" cy="1298448"/>
          </a:xfrm>
          <a:prstGeom prst="rect">
            <a:avLst/>
          </a:prstGeom>
          <a:noFill/>
          <a:ln/>
        </p:spPr>
        <p:txBody>
          <a:bodyPr wrap="square" lIns="0" tIns="0" rIns="0" bIns="0" rtlCol="0" anchor="ctr"/>
          <a:lstStyle/>
          <a:p>
            <a:pPr>
              <a:lnSpc>
                <a:spcPct val="125000"/>
              </a:lnSpc>
            </a:pPr>
            <a:r>
              <a:rPr lang="en-US" sz="1500" dirty="0">
                <a:solidFill>
                  <a:srgbClr val="6E6390"/>
                </a:solidFill>
                <a:latin typeface="Calibri" pitchFamily="34" charset="0"/>
                <a:ea typeface="Calibri" pitchFamily="34" charset="-122"/>
                <a:cs typeface="Calibri" pitchFamily="34" charset="-120"/>
              </a:rPr>
              <a:t>A Power BI dashboard project </a:t>
            </a:r>
            <a:r>
              <a:rPr lang="en-IN" sz="1500" b="1" dirty="0">
                <a:solidFill>
                  <a:srgbClr val="6E6390"/>
                </a:solidFill>
                <a:latin typeface="Calibri" pitchFamily="34" charset="0"/>
                <a:ea typeface="Calibri" pitchFamily="34" charset="-122"/>
                <a:cs typeface="Calibri" pitchFamily="34" charset="-120"/>
              </a:rPr>
              <a:t>E-Commerce Customer Analytics</a:t>
            </a:r>
            <a:r>
              <a:rPr lang="en-US" sz="1500" dirty="0">
                <a:solidFill>
                  <a:srgbClr val="6E6390"/>
                </a:solidFill>
                <a:latin typeface="Calibri" pitchFamily="34" charset="0"/>
                <a:ea typeface="Calibri" pitchFamily="34" charset="-122"/>
                <a:cs typeface="Calibri" pitchFamily="34" charset="-120"/>
              </a:rPr>
              <a:t> using the Brazilian E-commerce dataset.</a:t>
            </a:r>
          </a:p>
          <a:p>
            <a:pPr>
              <a:lnSpc>
                <a:spcPct val="125000"/>
              </a:lnSpc>
            </a:pPr>
            <a:endParaRPr lang="en-US" sz="1500" dirty="0">
              <a:solidFill>
                <a:srgbClr val="6E6390"/>
              </a:solidFill>
              <a:latin typeface="Calibri" pitchFamily="34" charset="0"/>
              <a:ea typeface="Calibri" pitchFamily="34" charset="-122"/>
              <a:cs typeface="Calibri" pitchFamily="34" charset="-120"/>
            </a:endParaRPr>
          </a:p>
          <a:p>
            <a:pPr>
              <a:lnSpc>
                <a:spcPct val="125000"/>
              </a:lnSpc>
            </a:pPr>
            <a:r>
              <a:rPr lang="en-US" sz="1500" dirty="0">
                <a:solidFill>
                  <a:srgbClr val="6E6390"/>
                </a:solidFill>
                <a:latin typeface="Calibri" pitchFamily="34" charset="0"/>
                <a:ea typeface="Calibri" pitchFamily="34" charset="-122"/>
                <a:cs typeface="Calibri" pitchFamily="34" charset="-120"/>
              </a:rPr>
              <a:t>Developed by –</a:t>
            </a:r>
          </a:p>
          <a:p>
            <a:pPr marL="285750" indent="-285750">
              <a:lnSpc>
                <a:spcPct val="125000"/>
              </a:lnSpc>
              <a:buFont typeface="Arial" panose="020B0604020202020204" pitchFamily="34" charset="0"/>
              <a:buChar char="•"/>
            </a:pPr>
            <a:r>
              <a:rPr lang="en-US" sz="1500" dirty="0">
                <a:solidFill>
                  <a:srgbClr val="6E6390"/>
                </a:solidFill>
                <a:latin typeface="Calibri" pitchFamily="34" charset="0"/>
                <a:ea typeface="Calibri" pitchFamily="34" charset="-122"/>
                <a:cs typeface="Calibri" pitchFamily="34" charset="-120"/>
              </a:rPr>
              <a:t>Shreshta Saha</a:t>
            </a:r>
          </a:p>
          <a:p>
            <a:pPr marL="285750" indent="-285750">
              <a:lnSpc>
                <a:spcPct val="125000"/>
              </a:lnSpc>
              <a:buFont typeface="Arial" panose="020B0604020202020204" pitchFamily="34" charset="0"/>
              <a:buChar char="•"/>
            </a:pPr>
            <a:r>
              <a:rPr lang="en-US" sz="1500" dirty="0">
                <a:solidFill>
                  <a:srgbClr val="6E6390"/>
                </a:solidFill>
                <a:latin typeface="Calibri" pitchFamily="34" charset="0"/>
                <a:ea typeface="Calibri" pitchFamily="34" charset="-122"/>
                <a:cs typeface="Calibri" pitchFamily="34" charset="-120"/>
              </a:rPr>
              <a:t>Shreyasree Mete</a:t>
            </a:r>
          </a:p>
        </p:txBody>
      </p:sp>
      <p:sp>
        <p:nvSpPr>
          <p:cNvPr id="22" name="Text 19"/>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8079A0"/>
                </a:solidFill>
                <a:latin typeface="Calibri" pitchFamily="34" charset="0"/>
                <a:ea typeface="Calibri" pitchFamily="34" charset="-122"/>
                <a:cs typeface="Calibri" pitchFamily="34" charset="-120"/>
              </a:rPr>
              <a:t>Centre of Excellence for AI  |  E-commerce Customer Analytics</a:t>
            </a:r>
            <a:endParaRPr lang="en-US" sz="900" dirty="0"/>
          </a:p>
        </p:txBody>
      </p:sp>
      <p:sp>
        <p:nvSpPr>
          <p:cNvPr id="23" name="Text 20"/>
          <p:cNvSpPr/>
          <p:nvPr/>
        </p:nvSpPr>
        <p:spPr>
          <a:xfrm>
            <a:off x="10271455" y="6473952"/>
            <a:ext cx="1463040" cy="274320"/>
          </a:xfrm>
          <a:prstGeom prst="rect">
            <a:avLst/>
          </a:prstGeom>
          <a:noFill/>
          <a:ln/>
        </p:spPr>
        <p:txBody>
          <a:bodyPr wrap="square" lIns="0" tIns="0" rIns="0" bIns="0" rtlCol="0" anchor="ctr"/>
          <a:lstStyle/>
          <a:p>
            <a:pPr marL="0" indent="0" algn="r">
              <a:buNone/>
            </a:pP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3"/>
          <a:stretch>
            <a:fillRect/>
          </a:stretch>
        </p:blipFill>
        <p:spPr>
          <a:xfrm>
            <a:off x="10408615" y="347472"/>
            <a:ext cx="1325880" cy="455604"/>
          </a:xfrm>
          <a:prstGeom prst="rect">
            <a:avLst/>
          </a:prstGeom>
        </p:spPr>
      </p:pic>
      <p:sp>
        <p:nvSpPr>
          <p:cNvPr id="3" name="Text 0"/>
          <p:cNvSpPr/>
          <p:nvPr/>
        </p:nvSpPr>
        <p:spPr>
          <a:xfrm>
            <a:off x="548640" y="384048"/>
            <a:ext cx="3657600" cy="292608"/>
          </a:xfrm>
          <a:prstGeom prst="rect">
            <a:avLst/>
          </a:prstGeom>
          <a:noFill/>
          <a:ln/>
        </p:spPr>
        <p:txBody>
          <a:bodyPr wrap="square" lIns="0" tIns="0" rIns="0" bIns="0" rtlCol="0" anchor="ctr"/>
          <a:lstStyle/>
          <a:p>
            <a:pPr marL="0" indent="0">
              <a:buNone/>
            </a:pPr>
            <a:r>
              <a:rPr lang="en-US" sz="1200" b="1" kern="0" spc="300" dirty="0">
                <a:solidFill>
                  <a:srgbClr val="8874C0"/>
                </a:solidFill>
                <a:latin typeface="Calibri" pitchFamily="34" charset="0"/>
                <a:ea typeface="Calibri" pitchFamily="34" charset="-122"/>
                <a:cs typeface="Calibri" pitchFamily="34" charset="-120"/>
              </a:rPr>
              <a:t>BEFORE &amp; AFTER</a:t>
            </a:r>
            <a:endParaRPr lang="en-US" sz="1200" dirty="0"/>
          </a:p>
        </p:txBody>
      </p:sp>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4A3F6B"/>
                </a:solidFill>
                <a:latin typeface="Cambria" pitchFamily="34" charset="0"/>
                <a:ea typeface="Cambria" pitchFamily="34" charset="-122"/>
                <a:cs typeface="Cambria" pitchFamily="34" charset="-120"/>
              </a:rPr>
              <a:t>The Impact of Data Analytics</a:t>
            </a:r>
            <a:endParaRPr lang="en-US" sz="3200" dirty="0"/>
          </a:p>
        </p:txBody>
      </p:sp>
      <p:sp>
        <p:nvSpPr>
          <p:cNvPr id="5" name="Shape 2"/>
          <p:cNvSpPr/>
          <p:nvPr/>
        </p:nvSpPr>
        <p:spPr>
          <a:xfrm>
            <a:off x="548640" y="1600200"/>
            <a:ext cx="5257800" cy="4617720"/>
          </a:xfrm>
          <a:prstGeom prst="roundRect">
            <a:avLst>
              <a:gd name="adj" fmla="val 1980"/>
            </a:avLst>
          </a:prstGeom>
          <a:solidFill>
            <a:srgbClr val="F4F1F8"/>
          </a:solidFill>
          <a:ln w="12700">
            <a:solidFill>
              <a:srgbClr val="E1DCEA"/>
            </a:solidFill>
            <a:prstDash val="solid"/>
          </a:ln>
        </p:spPr>
        <p:txBody>
          <a:bodyPr/>
          <a:lstStyle/>
          <a:p>
            <a:endParaRPr lang="en-IN"/>
          </a:p>
        </p:txBody>
      </p:sp>
      <p:sp>
        <p:nvSpPr>
          <p:cNvPr id="6" name="Shape 3"/>
          <p:cNvSpPr/>
          <p:nvPr/>
        </p:nvSpPr>
        <p:spPr>
          <a:xfrm>
            <a:off x="914400" y="1965960"/>
            <a:ext cx="868680" cy="868680"/>
          </a:xfrm>
          <a:prstGeom prst="ellipse">
            <a:avLst/>
          </a:prstGeom>
          <a:solidFill>
            <a:srgbClr val="A79BC0"/>
          </a:solidFill>
          <a:ln/>
        </p:spPr>
        <p:txBody>
          <a:bodyPr/>
          <a:lstStyle/>
          <a:p>
            <a:endParaRPr lang="en-IN"/>
          </a:p>
        </p:txBody>
      </p:sp>
      <p:pic>
        <p:nvPicPr>
          <p:cNvPr id="7" name="Image 1" descr="/home/claude/assets/store.png"/>
          <p:cNvPicPr>
            <a:picLocks noChangeAspect="1"/>
          </p:cNvPicPr>
          <p:nvPr/>
        </p:nvPicPr>
        <p:blipFill>
          <a:blip r:embed="rId4"/>
          <a:stretch>
            <a:fillRect/>
          </a:stretch>
        </p:blipFill>
        <p:spPr>
          <a:xfrm>
            <a:off x="1105510" y="2157070"/>
            <a:ext cx="486461" cy="486461"/>
          </a:xfrm>
          <a:prstGeom prst="rect">
            <a:avLst/>
          </a:prstGeom>
        </p:spPr>
      </p:pic>
      <p:sp>
        <p:nvSpPr>
          <p:cNvPr id="8" name="Text 4"/>
          <p:cNvSpPr/>
          <p:nvPr/>
        </p:nvSpPr>
        <p:spPr>
          <a:xfrm>
            <a:off x="1965960" y="2057400"/>
            <a:ext cx="3520440" cy="365760"/>
          </a:xfrm>
          <a:prstGeom prst="rect">
            <a:avLst/>
          </a:prstGeom>
          <a:noFill/>
          <a:ln/>
        </p:spPr>
        <p:txBody>
          <a:bodyPr wrap="square" lIns="0" tIns="0" rIns="0" bIns="0" rtlCol="0" anchor="ctr"/>
          <a:lstStyle/>
          <a:p>
            <a:pPr marL="0" indent="0">
              <a:buNone/>
            </a:pPr>
            <a:r>
              <a:rPr lang="en-US" sz="1650" b="1" dirty="0">
                <a:solidFill>
                  <a:srgbClr val="5C5470"/>
                </a:solidFill>
                <a:latin typeface="Cambria" pitchFamily="34" charset="0"/>
                <a:ea typeface="Cambria" pitchFamily="34" charset="-122"/>
                <a:cs typeface="Cambria" pitchFamily="34" charset="-120"/>
              </a:rPr>
              <a:t>Shop Without Data Analysis</a:t>
            </a:r>
            <a:endParaRPr lang="en-US" sz="1650" dirty="0"/>
          </a:p>
        </p:txBody>
      </p:sp>
      <p:sp>
        <p:nvSpPr>
          <p:cNvPr id="9" name="Text 5"/>
          <p:cNvSpPr/>
          <p:nvPr/>
        </p:nvSpPr>
        <p:spPr>
          <a:xfrm>
            <a:off x="1965960" y="2423160"/>
            <a:ext cx="3520440" cy="365760"/>
          </a:xfrm>
          <a:prstGeom prst="rect">
            <a:avLst/>
          </a:prstGeom>
          <a:noFill/>
          <a:ln/>
        </p:spPr>
        <p:txBody>
          <a:bodyPr wrap="square" lIns="0" tIns="0" rIns="0" bIns="0" rtlCol="0" anchor="ctr"/>
          <a:lstStyle/>
          <a:p>
            <a:pPr marL="0" indent="0">
              <a:buNone/>
            </a:pPr>
            <a:r>
              <a:rPr lang="en-US" sz="1050" dirty="0">
                <a:solidFill>
                  <a:srgbClr val="8B84A0"/>
                </a:solidFill>
                <a:latin typeface="Calibri" pitchFamily="34" charset="0"/>
                <a:ea typeface="Calibri" pitchFamily="34" charset="-122"/>
                <a:cs typeface="Calibri" pitchFamily="34" charset="-120"/>
              </a:rPr>
              <a:t>Runs on memory, guesswork and manual records</a:t>
            </a:r>
            <a:endParaRPr lang="en-US" sz="1050" dirty="0"/>
          </a:p>
        </p:txBody>
      </p:sp>
      <p:sp>
        <p:nvSpPr>
          <p:cNvPr id="10" name="Shape 6"/>
          <p:cNvSpPr/>
          <p:nvPr/>
        </p:nvSpPr>
        <p:spPr>
          <a:xfrm>
            <a:off x="914400" y="3017520"/>
            <a:ext cx="457200" cy="457200"/>
          </a:xfrm>
          <a:prstGeom prst="ellipse">
            <a:avLst/>
          </a:prstGeom>
          <a:solidFill>
            <a:srgbClr val="A79BC0"/>
          </a:solidFill>
          <a:ln/>
        </p:spPr>
        <p:txBody>
          <a:bodyPr/>
          <a:lstStyle/>
          <a:p>
            <a:endParaRPr lang="en-IN"/>
          </a:p>
        </p:txBody>
      </p:sp>
      <p:pic>
        <p:nvPicPr>
          <p:cNvPr id="11" name="Image 2" descr="/home/claude/assets/clipboard.png"/>
          <p:cNvPicPr>
            <a:picLocks noChangeAspect="1"/>
          </p:cNvPicPr>
          <p:nvPr/>
        </p:nvPicPr>
        <p:blipFill>
          <a:blip r:embed="rId5"/>
          <a:stretch>
            <a:fillRect/>
          </a:stretch>
        </p:blipFill>
        <p:spPr>
          <a:xfrm>
            <a:off x="1014984" y="3118104"/>
            <a:ext cx="256032" cy="256032"/>
          </a:xfrm>
          <a:prstGeom prst="rect">
            <a:avLst/>
          </a:prstGeom>
        </p:spPr>
      </p:pic>
      <p:sp>
        <p:nvSpPr>
          <p:cNvPr id="12" name="Text 7"/>
          <p:cNvSpPr/>
          <p:nvPr/>
        </p:nvSpPr>
        <p:spPr>
          <a:xfrm>
            <a:off x="1554480" y="2990088"/>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5C5470"/>
                </a:solidFill>
                <a:latin typeface="Calibri" pitchFamily="34" charset="0"/>
                <a:ea typeface="Calibri" pitchFamily="34" charset="-122"/>
                <a:cs typeface="Calibri" pitchFamily="34" charset="-120"/>
              </a:rPr>
              <a:t>Manual sales tracking in registers or notebooks</a:t>
            </a:r>
            <a:endParaRPr lang="en-US" sz="1150" dirty="0"/>
          </a:p>
        </p:txBody>
      </p:sp>
      <p:sp>
        <p:nvSpPr>
          <p:cNvPr id="13" name="Shape 8"/>
          <p:cNvSpPr/>
          <p:nvPr/>
        </p:nvSpPr>
        <p:spPr>
          <a:xfrm>
            <a:off x="914400" y="3639312"/>
            <a:ext cx="457200" cy="457200"/>
          </a:xfrm>
          <a:prstGeom prst="ellipse">
            <a:avLst/>
          </a:prstGeom>
          <a:solidFill>
            <a:srgbClr val="A79BC0"/>
          </a:solidFill>
          <a:ln/>
        </p:spPr>
        <p:txBody>
          <a:bodyPr/>
          <a:lstStyle/>
          <a:p>
            <a:endParaRPr lang="en-IN"/>
          </a:p>
        </p:txBody>
      </p:sp>
      <p:pic>
        <p:nvPicPr>
          <p:cNvPr id="14" name="Image 3" descr="/home/claude/assets/question.png"/>
          <p:cNvPicPr>
            <a:picLocks noChangeAspect="1"/>
          </p:cNvPicPr>
          <p:nvPr/>
        </p:nvPicPr>
        <p:blipFill>
          <a:blip r:embed="rId6"/>
          <a:stretch>
            <a:fillRect/>
          </a:stretch>
        </p:blipFill>
        <p:spPr>
          <a:xfrm>
            <a:off x="1014984" y="3739896"/>
            <a:ext cx="256032" cy="256032"/>
          </a:xfrm>
          <a:prstGeom prst="rect">
            <a:avLst/>
          </a:prstGeom>
        </p:spPr>
      </p:pic>
      <p:sp>
        <p:nvSpPr>
          <p:cNvPr id="15" name="Text 9"/>
          <p:cNvSpPr/>
          <p:nvPr/>
        </p:nvSpPr>
        <p:spPr>
          <a:xfrm>
            <a:off x="1554480" y="3611880"/>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5C5470"/>
                </a:solidFill>
                <a:latin typeface="Calibri" pitchFamily="34" charset="0"/>
                <a:ea typeface="Calibri" pitchFamily="34" charset="-122"/>
                <a:cs typeface="Calibri" pitchFamily="34" charset="-120"/>
              </a:rPr>
              <a:t>Guesswork on best-selling products</a:t>
            </a:r>
            <a:endParaRPr lang="en-US" sz="1150" dirty="0"/>
          </a:p>
        </p:txBody>
      </p:sp>
      <p:sp>
        <p:nvSpPr>
          <p:cNvPr id="16" name="Shape 10"/>
          <p:cNvSpPr/>
          <p:nvPr/>
        </p:nvSpPr>
        <p:spPr>
          <a:xfrm>
            <a:off x="914400" y="4261104"/>
            <a:ext cx="457200" cy="457200"/>
          </a:xfrm>
          <a:prstGeom prst="ellipse">
            <a:avLst/>
          </a:prstGeom>
          <a:solidFill>
            <a:srgbClr val="A79BC0"/>
          </a:solidFill>
          <a:ln/>
        </p:spPr>
        <p:txBody>
          <a:bodyPr/>
          <a:lstStyle/>
          <a:p>
            <a:endParaRPr lang="en-IN"/>
          </a:p>
        </p:txBody>
      </p:sp>
      <p:pic>
        <p:nvPicPr>
          <p:cNvPr id="17" name="Image 4" descr="/home/claude/assets/clock.png"/>
          <p:cNvPicPr>
            <a:picLocks noChangeAspect="1"/>
          </p:cNvPicPr>
          <p:nvPr/>
        </p:nvPicPr>
        <p:blipFill>
          <a:blip r:embed="rId7"/>
          <a:stretch>
            <a:fillRect/>
          </a:stretch>
        </p:blipFill>
        <p:spPr>
          <a:xfrm>
            <a:off x="1014984" y="4361688"/>
            <a:ext cx="256032" cy="256032"/>
          </a:xfrm>
          <a:prstGeom prst="rect">
            <a:avLst/>
          </a:prstGeom>
        </p:spPr>
      </p:pic>
      <p:sp>
        <p:nvSpPr>
          <p:cNvPr id="18" name="Text 11"/>
          <p:cNvSpPr/>
          <p:nvPr/>
        </p:nvSpPr>
        <p:spPr>
          <a:xfrm>
            <a:off x="1554480" y="4233672"/>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5C5470"/>
                </a:solidFill>
                <a:latin typeface="Calibri" pitchFamily="34" charset="0"/>
                <a:ea typeface="Calibri" pitchFamily="34" charset="-122"/>
                <a:cs typeface="Calibri" pitchFamily="34" charset="-120"/>
              </a:rPr>
              <a:t>Delayed, end-of-month reporting</a:t>
            </a:r>
            <a:endParaRPr lang="en-US" sz="1150" dirty="0"/>
          </a:p>
        </p:txBody>
      </p:sp>
      <p:sp>
        <p:nvSpPr>
          <p:cNvPr id="19" name="Shape 12"/>
          <p:cNvSpPr/>
          <p:nvPr/>
        </p:nvSpPr>
        <p:spPr>
          <a:xfrm>
            <a:off x="914400" y="4882896"/>
            <a:ext cx="457200" cy="457200"/>
          </a:xfrm>
          <a:prstGeom prst="ellipse">
            <a:avLst/>
          </a:prstGeom>
          <a:solidFill>
            <a:srgbClr val="A79BC0"/>
          </a:solidFill>
          <a:ln/>
        </p:spPr>
        <p:txBody>
          <a:bodyPr/>
          <a:lstStyle/>
          <a:p>
            <a:endParaRPr lang="en-IN"/>
          </a:p>
        </p:txBody>
      </p:sp>
      <p:pic>
        <p:nvPicPr>
          <p:cNvPr id="20" name="Image 5" descr="/home/claude/assets/eyeslash.png"/>
          <p:cNvPicPr>
            <a:picLocks noChangeAspect="1"/>
          </p:cNvPicPr>
          <p:nvPr/>
        </p:nvPicPr>
        <p:blipFill>
          <a:blip r:embed="rId8"/>
          <a:stretch>
            <a:fillRect/>
          </a:stretch>
        </p:blipFill>
        <p:spPr>
          <a:xfrm>
            <a:off x="1014984" y="4983480"/>
            <a:ext cx="256032" cy="256032"/>
          </a:xfrm>
          <a:prstGeom prst="rect">
            <a:avLst/>
          </a:prstGeom>
        </p:spPr>
      </p:pic>
      <p:sp>
        <p:nvSpPr>
          <p:cNvPr id="21" name="Text 13"/>
          <p:cNvSpPr/>
          <p:nvPr/>
        </p:nvSpPr>
        <p:spPr>
          <a:xfrm>
            <a:off x="1554480" y="4855464"/>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5C5470"/>
                </a:solidFill>
                <a:latin typeface="Calibri" pitchFamily="34" charset="0"/>
                <a:ea typeface="Calibri" pitchFamily="34" charset="-122"/>
                <a:cs typeface="Calibri" pitchFamily="34" charset="-120"/>
              </a:rPr>
              <a:t>No visibility into customer trends</a:t>
            </a:r>
            <a:endParaRPr lang="en-US" sz="1150" dirty="0"/>
          </a:p>
        </p:txBody>
      </p:sp>
      <p:sp>
        <p:nvSpPr>
          <p:cNvPr id="22" name="Shape 14"/>
          <p:cNvSpPr/>
          <p:nvPr/>
        </p:nvSpPr>
        <p:spPr>
          <a:xfrm>
            <a:off x="914400" y="5504688"/>
            <a:ext cx="457200" cy="457200"/>
          </a:xfrm>
          <a:prstGeom prst="ellipse">
            <a:avLst/>
          </a:prstGeom>
          <a:solidFill>
            <a:srgbClr val="A79BC0"/>
          </a:solidFill>
          <a:ln/>
        </p:spPr>
        <p:txBody>
          <a:bodyPr/>
          <a:lstStyle/>
          <a:p>
            <a:endParaRPr lang="en-IN"/>
          </a:p>
        </p:txBody>
      </p:sp>
      <p:pic>
        <p:nvPicPr>
          <p:cNvPr id="23" name="Image 6" descr="/home/claude/assets/xmark.png"/>
          <p:cNvPicPr>
            <a:picLocks noChangeAspect="1"/>
          </p:cNvPicPr>
          <p:nvPr/>
        </p:nvPicPr>
        <p:blipFill>
          <a:blip r:embed="rId9"/>
          <a:stretch>
            <a:fillRect/>
          </a:stretch>
        </p:blipFill>
        <p:spPr>
          <a:xfrm>
            <a:off x="1014984" y="5605272"/>
            <a:ext cx="256032" cy="256032"/>
          </a:xfrm>
          <a:prstGeom prst="rect">
            <a:avLst/>
          </a:prstGeom>
        </p:spPr>
      </p:pic>
      <p:sp>
        <p:nvSpPr>
          <p:cNvPr id="24" name="Text 15"/>
          <p:cNvSpPr/>
          <p:nvPr/>
        </p:nvSpPr>
        <p:spPr>
          <a:xfrm>
            <a:off x="1554480" y="5477256"/>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5C5470"/>
                </a:solidFill>
                <a:latin typeface="Calibri" pitchFamily="34" charset="0"/>
                <a:ea typeface="Calibri" pitchFamily="34" charset="-122"/>
                <a:cs typeface="Calibri" pitchFamily="34" charset="-120"/>
              </a:rPr>
              <a:t>Reactive, gut-feel decision-making</a:t>
            </a:r>
            <a:endParaRPr lang="en-US" sz="1150" dirty="0"/>
          </a:p>
        </p:txBody>
      </p:sp>
      <p:sp>
        <p:nvSpPr>
          <p:cNvPr id="25" name="Shape 16"/>
          <p:cNvSpPr/>
          <p:nvPr/>
        </p:nvSpPr>
        <p:spPr>
          <a:xfrm>
            <a:off x="6126480" y="1600200"/>
            <a:ext cx="5257800" cy="4617720"/>
          </a:xfrm>
          <a:prstGeom prst="roundRect">
            <a:avLst>
              <a:gd name="adj" fmla="val 1980"/>
            </a:avLst>
          </a:prstGeom>
          <a:solidFill>
            <a:srgbClr val="8874C0"/>
          </a:solidFill>
          <a:ln/>
        </p:spPr>
        <p:txBody>
          <a:bodyPr/>
          <a:lstStyle/>
          <a:p>
            <a:endParaRPr lang="en-IN"/>
          </a:p>
        </p:txBody>
      </p:sp>
      <p:sp>
        <p:nvSpPr>
          <p:cNvPr id="26" name="Shape 17"/>
          <p:cNvSpPr/>
          <p:nvPr/>
        </p:nvSpPr>
        <p:spPr>
          <a:xfrm>
            <a:off x="6492240" y="1965960"/>
            <a:ext cx="868680" cy="868680"/>
          </a:xfrm>
          <a:prstGeom prst="ellipse">
            <a:avLst/>
          </a:prstGeom>
          <a:solidFill>
            <a:srgbClr val="FFFFFF"/>
          </a:solidFill>
          <a:ln/>
        </p:spPr>
        <p:txBody>
          <a:bodyPr/>
          <a:lstStyle/>
          <a:p>
            <a:endParaRPr lang="en-IN"/>
          </a:p>
        </p:txBody>
      </p:sp>
      <p:pic>
        <p:nvPicPr>
          <p:cNvPr id="27" name="Image 7" descr="/home/claude/assets/store.png"/>
          <p:cNvPicPr>
            <a:picLocks noChangeAspect="1"/>
          </p:cNvPicPr>
          <p:nvPr/>
        </p:nvPicPr>
        <p:blipFill>
          <a:blip r:embed="rId4"/>
          <a:stretch>
            <a:fillRect/>
          </a:stretch>
        </p:blipFill>
        <p:spPr>
          <a:xfrm>
            <a:off x="6683350" y="2157070"/>
            <a:ext cx="486461" cy="486461"/>
          </a:xfrm>
          <a:prstGeom prst="rect">
            <a:avLst/>
          </a:prstGeom>
          <a:solidFill>
            <a:srgbClr val="9900CC"/>
          </a:solidFill>
          <a:ln>
            <a:solidFill>
              <a:srgbClr val="9900CC"/>
            </a:solidFill>
          </a:ln>
        </p:spPr>
      </p:pic>
      <p:sp>
        <p:nvSpPr>
          <p:cNvPr id="28" name="Text 18"/>
          <p:cNvSpPr/>
          <p:nvPr/>
        </p:nvSpPr>
        <p:spPr>
          <a:xfrm>
            <a:off x="7543800" y="2057400"/>
            <a:ext cx="3520440" cy="365760"/>
          </a:xfrm>
          <a:prstGeom prst="rect">
            <a:avLst/>
          </a:prstGeom>
          <a:noFill/>
          <a:ln/>
        </p:spPr>
        <p:txBody>
          <a:bodyPr wrap="square" lIns="0" tIns="0" rIns="0" bIns="0" rtlCol="0" anchor="ctr"/>
          <a:lstStyle/>
          <a:p>
            <a:pPr marL="0" indent="0">
              <a:buNone/>
            </a:pPr>
            <a:r>
              <a:rPr lang="en-US" sz="1650" b="1" dirty="0">
                <a:solidFill>
                  <a:srgbClr val="FFFFFF"/>
                </a:solidFill>
                <a:latin typeface="Cambria" pitchFamily="34" charset="0"/>
                <a:ea typeface="Cambria" pitchFamily="34" charset="-122"/>
                <a:cs typeface="Cambria" pitchFamily="34" charset="-120"/>
              </a:rPr>
              <a:t>Shop With Data Analysis</a:t>
            </a:r>
            <a:endParaRPr lang="en-US" sz="1650" dirty="0"/>
          </a:p>
        </p:txBody>
      </p:sp>
      <p:sp>
        <p:nvSpPr>
          <p:cNvPr id="29" name="Text 19"/>
          <p:cNvSpPr/>
          <p:nvPr/>
        </p:nvSpPr>
        <p:spPr>
          <a:xfrm>
            <a:off x="7543800" y="2423160"/>
            <a:ext cx="3520440" cy="365760"/>
          </a:xfrm>
          <a:prstGeom prst="rect">
            <a:avLst/>
          </a:prstGeom>
          <a:noFill/>
          <a:ln/>
        </p:spPr>
        <p:txBody>
          <a:bodyPr wrap="square" lIns="0" tIns="0" rIns="0" bIns="0" rtlCol="0" anchor="ctr"/>
          <a:lstStyle/>
          <a:p>
            <a:pPr marL="0" indent="0">
              <a:buNone/>
            </a:pPr>
            <a:r>
              <a:rPr lang="en-US" sz="1050" dirty="0">
                <a:solidFill>
                  <a:srgbClr val="E4DBFF"/>
                </a:solidFill>
                <a:latin typeface="Calibri" pitchFamily="34" charset="0"/>
                <a:ea typeface="Calibri" pitchFamily="34" charset="-122"/>
                <a:cs typeface="Calibri" pitchFamily="34" charset="-120"/>
              </a:rPr>
              <a:t>Runs on a live dashboard, not guesswork</a:t>
            </a:r>
            <a:endParaRPr lang="en-US" sz="1050" dirty="0"/>
          </a:p>
        </p:txBody>
      </p:sp>
      <p:sp>
        <p:nvSpPr>
          <p:cNvPr id="30" name="Shape 20"/>
          <p:cNvSpPr/>
          <p:nvPr/>
        </p:nvSpPr>
        <p:spPr>
          <a:xfrm>
            <a:off x="6492240" y="3017520"/>
            <a:ext cx="457200" cy="457200"/>
          </a:xfrm>
          <a:prstGeom prst="ellipse">
            <a:avLst/>
          </a:prstGeom>
          <a:solidFill>
            <a:srgbClr val="5FB89C"/>
          </a:solidFill>
          <a:ln/>
        </p:spPr>
        <p:txBody>
          <a:bodyPr/>
          <a:lstStyle/>
          <a:p>
            <a:endParaRPr lang="en-IN"/>
          </a:p>
        </p:txBody>
      </p:sp>
      <p:pic>
        <p:nvPicPr>
          <p:cNvPr id="31" name="Image 8" descr="/home/claude/assets/chart_pie.png"/>
          <p:cNvPicPr>
            <a:picLocks noChangeAspect="1"/>
          </p:cNvPicPr>
          <p:nvPr/>
        </p:nvPicPr>
        <p:blipFill>
          <a:blip r:embed="rId10"/>
          <a:stretch>
            <a:fillRect/>
          </a:stretch>
        </p:blipFill>
        <p:spPr>
          <a:xfrm>
            <a:off x="6592824" y="3118104"/>
            <a:ext cx="256032" cy="256032"/>
          </a:xfrm>
          <a:prstGeom prst="rect">
            <a:avLst/>
          </a:prstGeom>
        </p:spPr>
      </p:pic>
      <p:sp>
        <p:nvSpPr>
          <p:cNvPr id="32" name="Text 21"/>
          <p:cNvSpPr/>
          <p:nvPr/>
        </p:nvSpPr>
        <p:spPr>
          <a:xfrm>
            <a:off x="7132320" y="2990088"/>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Real-time KPI cards for revenue &amp; orders</a:t>
            </a:r>
            <a:endParaRPr lang="en-US" sz="1150" dirty="0"/>
          </a:p>
        </p:txBody>
      </p:sp>
      <p:sp>
        <p:nvSpPr>
          <p:cNvPr id="33" name="Shape 22"/>
          <p:cNvSpPr/>
          <p:nvPr/>
        </p:nvSpPr>
        <p:spPr>
          <a:xfrm>
            <a:off x="6492240" y="3639312"/>
            <a:ext cx="457200" cy="457200"/>
          </a:xfrm>
          <a:prstGeom prst="ellipse">
            <a:avLst/>
          </a:prstGeom>
          <a:solidFill>
            <a:srgbClr val="5FB89C"/>
          </a:solidFill>
          <a:ln/>
        </p:spPr>
        <p:txBody>
          <a:bodyPr/>
          <a:lstStyle/>
          <a:p>
            <a:endParaRPr lang="en-IN"/>
          </a:p>
        </p:txBody>
      </p:sp>
      <p:pic>
        <p:nvPicPr>
          <p:cNvPr id="34" name="Image 9" descr="/home/claude/assets/magchart.png"/>
          <p:cNvPicPr>
            <a:picLocks noChangeAspect="1"/>
          </p:cNvPicPr>
          <p:nvPr/>
        </p:nvPicPr>
        <p:blipFill>
          <a:blip r:embed="rId11"/>
          <a:stretch>
            <a:fillRect/>
          </a:stretch>
        </p:blipFill>
        <p:spPr>
          <a:xfrm>
            <a:off x="6592824" y="3739896"/>
            <a:ext cx="256032" cy="256032"/>
          </a:xfrm>
          <a:prstGeom prst="rect">
            <a:avLst/>
          </a:prstGeom>
        </p:spPr>
      </p:pic>
      <p:sp>
        <p:nvSpPr>
          <p:cNvPr id="35" name="Text 23"/>
          <p:cNvSpPr/>
          <p:nvPr/>
        </p:nvSpPr>
        <p:spPr>
          <a:xfrm>
            <a:off x="7132320" y="3611880"/>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Clear view of best-selling products</a:t>
            </a:r>
            <a:endParaRPr lang="en-US" sz="1150" dirty="0"/>
          </a:p>
        </p:txBody>
      </p:sp>
      <p:sp>
        <p:nvSpPr>
          <p:cNvPr id="36" name="Shape 24"/>
          <p:cNvSpPr/>
          <p:nvPr/>
        </p:nvSpPr>
        <p:spPr>
          <a:xfrm>
            <a:off x="6492240" y="4261104"/>
            <a:ext cx="457200" cy="457200"/>
          </a:xfrm>
          <a:prstGeom prst="ellipse">
            <a:avLst/>
          </a:prstGeom>
          <a:solidFill>
            <a:srgbClr val="5FB89C"/>
          </a:solidFill>
          <a:ln/>
        </p:spPr>
        <p:txBody>
          <a:bodyPr/>
          <a:lstStyle/>
          <a:p>
            <a:endParaRPr lang="en-IN"/>
          </a:p>
        </p:txBody>
      </p:sp>
      <p:pic>
        <p:nvPicPr>
          <p:cNvPr id="37" name="Image 10" descr="/home/claude/assets/bolt.png"/>
          <p:cNvPicPr>
            <a:picLocks noChangeAspect="1"/>
          </p:cNvPicPr>
          <p:nvPr/>
        </p:nvPicPr>
        <p:blipFill>
          <a:blip r:embed="rId12"/>
          <a:stretch>
            <a:fillRect/>
          </a:stretch>
        </p:blipFill>
        <p:spPr>
          <a:xfrm>
            <a:off x="6592824" y="4361688"/>
            <a:ext cx="256032" cy="256032"/>
          </a:xfrm>
          <a:prstGeom prst="rect">
            <a:avLst/>
          </a:prstGeom>
        </p:spPr>
      </p:pic>
      <p:sp>
        <p:nvSpPr>
          <p:cNvPr id="38" name="Text 25"/>
          <p:cNvSpPr/>
          <p:nvPr/>
        </p:nvSpPr>
        <p:spPr>
          <a:xfrm>
            <a:off x="7132320" y="4233672"/>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Instant, always-up-to-date reporting</a:t>
            </a:r>
            <a:endParaRPr lang="en-US" sz="1150" dirty="0"/>
          </a:p>
        </p:txBody>
      </p:sp>
      <p:sp>
        <p:nvSpPr>
          <p:cNvPr id="39" name="Shape 26"/>
          <p:cNvSpPr/>
          <p:nvPr/>
        </p:nvSpPr>
        <p:spPr>
          <a:xfrm>
            <a:off x="6492240" y="4882896"/>
            <a:ext cx="457200" cy="457200"/>
          </a:xfrm>
          <a:prstGeom prst="ellipse">
            <a:avLst/>
          </a:prstGeom>
          <a:solidFill>
            <a:srgbClr val="5FB89C"/>
          </a:solidFill>
          <a:ln/>
        </p:spPr>
        <p:txBody>
          <a:bodyPr/>
          <a:lstStyle/>
          <a:p>
            <a:endParaRPr lang="en-IN"/>
          </a:p>
        </p:txBody>
      </p:sp>
      <p:pic>
        <p:nvPicPr>
          <p:cNvPr id="40" name="Image 11" descr="/home/claude/assets/trendup.png"/>
          <p:cNvPicPr>
            <a:picLocks noChangeAspect="1"/>
          </p:cNvPicPr>
          <p:nvPr/>
        </p:nvPicPr>
        <p:blipFill>
          <a:blip r:embed="rId13"/>
          <a:stretch>
            <a:fillRect/>
          </a:stretch>
        </p:blipFill>
        <p:spPr>
          <a:xfrm>
            <a:off x="6592824" y="4983480"/>
            <a:ext cx="256032" cy="256032"/>
          </a:xfrm>
          <a:prstGeom prst="rect">
            <a:avLst/>
          </a:prstGeom>
        </p:spPr>
      </p:pic>
      <p:sp>
        <p:nvSpPr>
          <p:cNvPr id="41" name="Text 27"/>
          <p:cNvSpPr/>
          <p:nvPr/>
        </p:nvSpPr>
        <p:spPr>
          <a:xfrm>
            <a:off x="7132320" y="4855464"/>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Full visibility into customer &amp; sales trends</a:t>
            </a:r>
            <a:endParaRPr lang="en-US" sz="1150" dirty="0"/>
          </a:p>
        </p:txBody>
      </p:sp>
      <p:sp>
        <p:nvSpPr>
          <p:cNvPr id="42" name="Shape 28"/>
          <p:cNvSpPr/>
          <p:nvPr/>
        </p:nvSpPr>
        <p:spPr>
          <a:xfrm>
            <a:off x="6492240" y="5504688"/>
            <a:ext cx="457200" cy="457200"/>
          </a:xfrm>
          <a:prstGeom prst="ellipse">
            <a:avLst/>
          </a:prstGeom>
          <a:solidFill>
            <a:srgbClr val="5FB89C"/>
          </a:solidFill>
          <a:ln/>
        </p:spPr>
        <p:txBody>
          <a:bodyPr/>
          <a:lstStyle/>
          <a:p>
            <a:endParaRPr lang="en-IN"/>
          </a:p>
        </p:txBody>
      </p:sp>
      <p:pic>
        <p:nvPicPr>
          <p:cNvPr id="43" name="Image 12" descr="/home/claude/assets/check.png"/>
          <p:cNvPicPr>
            <a:picLocks noChangeAspect="1"/>
          </p:cNvPicPr>
          <p:nvPr/>
        </p:nvPicPr>
        <p:blipFill>
          <a:blip r:embed="rId14"/>
          <a:stretch>
            <a:fillRect/>
          </a:stretch>
        </p:blipFill>
        <p:spPr>
          <a:xfrm>
            <a:off x="6592824" y="5605272"/>
            <a:ext cx="256032" cy="256032"/>
          </a:xfrm>
          <a:prstGeom prst="rect">
            <a:avLst/>
          </a:prstGeom>
        </p:spPr>
      </p:pic>
      <p:sp>
        <p:nvSpPr>
          <p:cNvPr id="44" name="Text 29"/>
          <p:cNvSpPr/>
          <p:nvPr/>
        </p:nvSpPr>
        <p:spPr>
          <a:xfrm>
            <a:off x="7132320" y="5477256"/>
            <a:ext cx="3886200" cy="512064"/>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Confident, evidence-based decisions</a:t>
            </a:r>
            <a:endParaRPr lang="en-US" sz="1150" dirty="0"/>
          </a:p>
        </p:txBody>
      </p:sp>
      <p:sp>
        <p:nvSpPr>
          <p:cNvPr id="45" name="Shape 30"/>
          <p:cNvSpPr/>
          <p:nvPr/>
        </p:nvSpPr>
        <p:spPr>
          <a:xfrm>
            <a:off x="5673852" y="3616452"/>
            <a:ext cx="585216" cy="585216"/>
          </a:xfrm>
          <a:prstGeom prst="ellipse">
            <a:avLst/>
          </a:prstGeom>
          <a:solidFill>
            <a:srgbClr val="F6C199"/>
          </a:solidFill>
          <a:ln w="38100">
            <a:solidFill>
              <a:srgbClr val="FFFFFF"/>
            </a:solidFill>
            <a:prstDash val="solid"/>
          </a:ln>
          <a:effectLst>
            <a:outerShdw blurRad="101600" dist="25400" dir="5400000" algn="bl" rotWithShape="0">
              <a:srgbClr val="9B8AC4">
                <a:alpha val="25000"/>
              </a:srgbClr>
            </a:outerShdw>
          </a:effectLst>
        </p:spPr>
        <p:txBody>
          <a:bodyPr/>
          <a:lstStyle/>
          <a:p>
            <a:endParaRPr lang="en-IN"/>
          </a:p>
        </p:txBody>
      </p:sp>
      <p:pic>
        <p:nvPicPr>
          <p:cNvPr id="46" name="Image 13" descr="/home/claude/assets/arrow.png"/>
          <p:cNvPicPr>
            <a:picLocks noChangeAspect="1"/>
          </p:cNvPicPr>
          <p:nvPr/>
        </p:nvPicPr>
        <p:blipFill>
          <a:blip r:embed="rId15"/>
          <a:stretch>
            <a:fillRect/>
          </a:stretch>
        </p:blipFill>
        <p:spPr>
          <a:xfrm>
            <a:off x="5829300" y="3771900"/>
            <a:ext cx="274320" cy="274320"/>
          </a:xfrm>
          <a:prstGeom prst="rect">
            <a:avLst/>
          </a:prstGeom>
        </p:spPr>
      </p:pic>
      <p:sp>
        <p:nvSpPr>
          <p:cNvPr id="47" name="Text 31"/>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8079A0"/>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3"/>
          <a:stretch>
            <a:fillRect/>
          </a:stretch>
        </p:blipFill>
        <p:spPr>
          <a:xfrm>
            <a:off x="10408615" y="347472"/>
            <a:ext cx="1325880" cy="455604"/>
          </a:xfrm>
          <a:prstGeom prst="rect">
            <a:avLst/>
          </a:prstGeom>
        </p:spPr>
      </p:pic>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4A3F6B"/>
                </a:solidFill>
                <a:latin typeface="Cambria" pitchFamily="34" charset="0"/>
                <a:ea typeface="Cambria" pitchFamily="34" charset="-122"/>
                <a:cs typeface="Cambria" pitchFamily="34" charset="-120"/>
              </a:rPr>
              <a:t>Project Objective</a:t>
            </a:r>
            <a:endParaRPr lang="en-US" sz="3200" dirty="0"/>
          </a:p>
        </p:txBody>
      </p:sp>
      <p:sp>
        <p:nvSpPr>
          <p:cNvPr id="5" name="Shape 2"/>
          <p:cNvSpPr/>
          <p:nvPr/>
        </p:nvSpPr>
        <p:spPr>
          <a:xfrm>
            <a:off x="548640" y="1600200"/>
            <a:ext cx="7040880" cy="4206240"/>
          </a:xfrm>
          <a:prstGeom prst="roundRect">
            <a:avLst>
              <a:gd name="adj" fmla="val 2174"/>
            </a:avLst>
          </a:prstGeom>
          <a:solidFill>
            <a:srgbClr val="FAF8FF"/>
          </a:solidFill>
          <a:ln w="12700">
            <a:solidFill>
              <a:srgbClr val="E4DBFF"/>
            </a:solidFill>
            <a:prstDash val="solid"/>
          </a:ln>
        </p:spPr>
        <p:txBody>
          <a:bodyPr/>
          <a:lstStyle/>
          <a:p>
            <a:endParaRPr lang="en-IN"/>
          </a:p>
        </p:txBody>
      </p:sp>
      <p:sp>
        <p:nvSpPr>
          <p:cNvPr id="6" name="Text 3"/>
          <p:cNvSpPr/>
          <p:nvPr/>
        </p:nvSpPr>
        <p:spPr>
          <a:xfrm>
            <a:off x="868680" y="1874520"/>
            <a:ext cx="6400800" cy="1920240"/>
          </a:xfrm>
          <a:prstGeom prst="rect">
            <a:avLst/>
          </a:prstGeom>
          <a:noFill/>
          <a:ln/>
        </p:spPr>
        <p:txBody>
          <a:bodyPr wrap="square" lIns="0" tIns="0" rIns="0" bIns="0" rtlCol="0" anchor="ctr"/>
          <a:lstStyle/>
          <a:p>
            <a:pPr marL="0" indent="0">
              <a:lnSpc>
                <a:spcPct val="135000"/>
              </a:lnSpc>
              <a:buNone/>
            </a:pPr>
            <a:r>
              <a:rPr lang="en-US" sz="1500" dirty="0">
                <a:solidFill>
                  <a:srgbClr val="4A4460"/>
                </a:solidFill>
                <a:latin typeface="Calibri" pitchFamily="34" charset="0"/>
                <a:ea typeface="Calibri" pitchFamily="34" charset="-122"/>
                <a:cs typeface="Calibri" pitchFamily="34" charset="-120"/>
              </a:rPr>
              <a:t>This project analyzes the Brazilian E-commerce (Olist) dataset to build an interactive Power BI dashboard that tracks revenue, orders, and customer behavior. It helps stakeholders monitor sales trends, payment performance, and delivery efficiency in one place. The goal is to convert raw transactional data into clear, actionable business insights. Ultimately, the dashboard supports faster, data-driven decision-making across the customer journey.</a:t>
            </a:r>
            <a:endParaRPr lang="en-US" sz="1500" dirty="0"/>
          </a:p>
        </p:txBody>
      </p:sp>
      <p:sp>
        <p:nvSpPr>
          <p:cNvPr id="7" name="Shape 4"/>
          <p:cNvSpPr/>
          <p:nvPr/>
        </p:nvSpPr>
        <p:spPr>
          <a:xfrm>
            <a:off x="7909560" y="1600200"/>
            <a:ext cx="3730752" cy="4206240"/>
          </a:xfrm>
          <a:prstGeom prst="roundRect">
            <a:avLst>
              <a:gd name="adj" fmla="val 2451"/>
            </a:avLst>
          </a:prstGeom>
          <a:solidFill>
            <a:srgbClr val="8874C0"/>
          </a:solidFill>
          <a:ln/>
        </p:spPr>
        <p:txBody>
          <a:bodyPr/>
          <a:lstStyle/>
          <a:p>
            <a:endParaRPr lang="en-IN"/>
          </a:p>
        </p:txBody>
      </p:sp>
      <p:sp>
        <p:nvSpPr>
          <p:cNvPr id="8" name="Shape 5"/>
          <p:cNvSpPr/>
          <p:nvPr/>
        </p:nvSpPr>
        <p:spPr>
          <a:xfrm>
            <a:off x="9006840" y="2148840"/>
            <a:ext cx="1508760" cy="1508760"/>
          </a:xfrm>
          <a:prstGeom prst="ellipse">
            <a:avLst/>
          </a:prstGeom>
          <a:solidFill>
            <a:srgbClr val="5FB89C"/>
          </a:solidFill>
          <a:ln/>
        </p:spPr>
        <p:txBody>
          <a:bodyPr/>
          <a:lstStyle/>
          <a:p>
            <a:endParaRPr lang="en-IN"/>
          </a:p>
        </p:txBody>
      </p:sp>
      <p:pic>
        <p:nvPicPr>
          <p:cNvPr id="9" name="Image 1" descr="/home/claude/assets/target.png"/>
          <p:cNvPicPr>
            <a:picLocks noChangeAspect="1"/>
          </p:cNvPicPr>
          <p:nvPr/>
        </p:nvPicPr>
        <p:blipFill>
          <a:blip r:embed="rId4"/>
          <a:stretch>
            <a:fillRect/>
          </a:stretch>
        </p:blipFill>
        <p:spPr>
          <a:xfrm>
            <a:off x="9338767" y="2480767"/>
            <a:ext cx="844906" cy="844906"/>
          </a:xfrm>
          <a:prstGeom prst="rect">
            <a:avLst/>
          </a:prstGeom>
        </p:spPr>
      </p:pic>
      <p:sp>
        <p:nvSpPr>
          <p:cNvPr id="10" name="Text 6"/>
          <p:cNvSpPr/>
          <p:nvPr/>
        </p:nvSpPr>
        <p:spPr>
          <a:xfrm>
            <a:off x="8001000" y="3794760"/>
            <a:ext cx="3566160" cy="685800"/>
          </a:xfrm>
          <a:prstGeom prst="rect">
            <a:avLst/>
          </a:prstGeom>
          <a:noFill/>
          <a:ln/>
        </p:spPr>
        <p:txBody>
          <a:bodyPr wrap="square" lIns="0" tIns="0" rIns="0" bIns="0" rtlCol="0" anchor="ctr"/>
          <a:lstStyle/>
          <a:p>
            <a:pPr marL="0" indent="0" algn="ctr">
              <a:lnSpc>
                <a:spcPct val="110000"/>
              </a:lnSpc>
              <a:buNone/>
            </a:pPr>
            <a:r>
              <a:rPr lang="en-US" sz="1700" b="1" dirty="0">
                <a:solidFill>
                  <a:srgbClr val="FFFFFF"/>
                </a:solidFill>
                <a:latin typeface="Cambria" pitchFamily="34" charset="0"/>
                <a:ea typeface="Cambria" pitchFamily="34" charset="-122"/>
                <a:cs typeface="Cambria" pitchFamily="34" charset="-120"/>
              </a:rPr>
              <a:t>Goal-Driven</a:t>
            </a:r>
            <a:endParaRPr lang="en-US" sz="1700" dirty="0"/>
          </a:p>
          <a:p>
            <a:pPr marL="0" indent="0" algn="ctr">
              <a:lnSpc>
                <a:spcPct val="110000"/>
              </a:lnSpc>
              <a:buNone/>
            </a:pPr>
            <a:r>
              <a:rPr lang="en-US" sz="1700" b="1" dirty="0">
                <a:solidFill>
                  <a:srgbClr val="FFFFFF"/>
                </a:solidFill>
                <a:latin typeface="Cambria" pitchFamily="34" charset="0"/>
                <a:ea typeface="Cambria" pitchFamily="34" charset="-122"/>
                <a:cs typeface="Cambria" pitchFamily="34" charset="-120"/>
              </a:rPr>
              <a:t>Dashboard</a:t>
            </a:r>
            <a:endParaRPr lang="en-US" sz="1700" dirty="0"/>
          </a:p>
        </p:txBody>
      </p:sp>
      <p:sp>
        <p:nvSpPr>
          <p:cNvPr id="11" name="Text 7"/>
          <p:cNvSpPr/>
          <p:nvPr/>
        </p:nvSpPr>
        <p:spPr>
          <a:xfrm>
            <a:off x="8001000" y="4480560"/>
            <a:ext cx="3566160" cy="640080"/>
          </a:xfrm>
          <a:prstGeom prst="rect">
            <a:avLst/>
          </a:prstGeom>
          <a:noFill/>
          <a:ln/>
        </p:spPr>
        <p:txBody>
          <a:bodyPr wrap="square" lIns="0" tIns="0" rIns="0" bIns="0" rtlCol="0" anchor="ctr"/>
          <a:lstStyle/>
          <a:p>
            <a:pPr marL="0" indent="0" algn="ctr">
              <a:lnSpc>
                <a:spcPct val="120000"/>
              </a:lnSpc>
              <a:buNone/>
            </a:pPr>
            <a:r>
              <a:rPr lang="en-US" sz="1150" dirty="0">
                <a:solidFill>
                  <a:srgbClr val="E4DBFF"/>
                </a:solidFill>
                <a:latin typeface="Calibri" pitchFamily="34" charset="0"/>
                <a:ea typeface="Calibri" pitchFamily="34" charset="-122"/>
                <a:cs typeface="Calibri" pitchFamily="34" charset="-120"/>
              </a:rPr>
              <a:t>Turning raw e-commerce data</a:t>
            </a:r>
            <a:endParaRPr lang="en-US" sz="1150" dirty="0"/>
          </a:p>
          <a:p>
            <a:pPr marL="0" indent="0" algn="ctr">
              <a:lnSpc>
                <a:spcPct val="120000"/>
              </a:lnSpc>
              <a:buNone/>
            </a:pPr>
            <a:r>
              <a:rPr lang="en-US" sz="1150" dirty="0">
                <a:solidFill>
                  <a:srgbClr val="E4DBFF"/>
                </a:solidFill>
                <a:latin typeface="Calibri" pitchFamily="34" charset="0"/>
                <a:ea typeface="Calibri" pitchFamily="34" charset="-122"/>
                <a:cs typeface="Calibri" pitchFamily="34" charset="-120"/>
              </a:rPr>
              <a:t>into business insight</a:t>
            </a:r>
            <a:endParaRPr lang="en-US" sz="1150" dirty="0"/>
          </a:p>
        </p:txBody>
      </p:sp>
      <p:sp>
        <p:nvSpPr>
          <p:cNvPr id="12" name="Text 8"/>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8079A0"/>
                </a:solidFill>
                <a:latin typeface="Calibri" pitchFamily="34" charset="0"/>
                <a:ea typeface="Calibri" pitchFamily="34" charset="-122"/>
                <a:cs typeface="Calibri" pitchFamily="34" charset="-120"/>
              </a:rPr>
              <a:t>Centre of Excellence for AI  |  E-commerce Customer Analytics</a:t>
            </a:r>
            <a:endParaRPr lang="en-US" sz="900" dirty="0"/>
          </a:p>
        </p:txBody>
      </p:sp>
      <p:sp>
        <p:nvSpPr>
          <p:cNvPr id="15" name="Shape 7">
            <a:extLst>
              <a:ext uri="{FF2B5EF4-FFF2-40B4-BE49-F238E27FC236}">
                <a16:creationId xmlns:a16="http://schemas.microsoft.com/office/drawing/2014/main" id="{2C756DD9-4B1B-7C3B-8A60-0B71A6A8F539}"/>
              </a:ext>
            </a:extLst>
          </p:cNvPr>
          <p:cNvSpPr/>
          <p:nvPr/>
        </p:nvSpPr>
        <p:spPr>
          <a:xfrm>
            <a:off x="790926" y="4387673"/>
            <a:ext cx="1539433" cy="1051560"/>
          </a:xfrm>
          <a:prstGeom prst="roundRect">
            <a:avLst>
              <a:gd name="adj" fmla="val 6957"/>
            </a:avLst>
          </a:prstGeom>
          <a:solidFill>
            <a:srgbClr val="FFFFFF"/>
          </a:solidFill>
          <a:ln w="12700">
            <a:solidFill>
              <a:srgbClr val="E4DBFF"/>
            </a:solidFill>
            <a:prstDash val="solid"/>
          </a:ln>
          <a:effectLst>
            <a:outerShdw blurRad="101600" dist="25400" dir="5400000" algn="bl" rotWithShape="0">
              <a:srgbClr val="9B8AC4">
                <a:alpha val="18000"/>
              </a:srgbClr>
            </a:outerShdw>
          </a:effectLst>
        </p:spPr>
        <p:txBody>
          <a:bodyPr/>
          <a:lstStyle/>
          <a:p>
            <a:endParaRPr lang="en-IN"/>
          </a:p>
        </p:txBody>
      </p:sp>
      <p:sp>
        <p:nvSpPr>
          <p:cNvPr id="17" name="Text 8">
            <a:extLst>
              <a:ext uri="{FF2B5EF4-FFF2-40B4-BE49-F238E27FC236}">
                <a16:creationId xmlns:a16="http://schemas.microsoft.com/office/drawing/2014/main" id="{954F6CFC-2157-4A04-3845-3342BAA5A080}"/>
              </a:ext>
            </a:extLst>
          </p:cNvPr>
          <p:cNvSpPr/>
          <p:nvPr/>
        </p:nvSpPr>
        <p:spPr>
          <a:xfrm>
            <a:off x="344143" y="4533977"/>
            <a:ext cx="2395728" cy="502920"/>
          </a:xfrm>
          <a:prstGeom prst="rect">
            <a:avLst/>
          </a:prstGeom>
          <a:noFill/>
          <a:ln/>
        </p:spPr>
        <p:txBody>
          <a:bodyPr wrap="square" lIns="0" tIns="0" rIns="0" bIns="0" rtlCol="0" anchor="ctr"/>
          <a:lstStyle/>
          <a:p>
            <a:pPr marL="0" indent="0" algn="ctr">
              <a:buNone/>
            </a:pPr>
            <a:r>
              <a:rPr lang="en-US" sz="2400" b="1" dirty="0">
                <a:solidFill>
                  <a:srgbClr val="8874C0"/>
                </a:solidFill>
                <a:latin typeface="Cambria" pitchFamily="34" charset="0"/>
                <a:ea typeface="Cambria" pitchFamily="34" charset="-122"/>
                <a:cs typeface="Cambria" pitchFamily="34" charset="-120"/>
              </a:rPr>
              <a:t>132.10K</a:t>
            </a:r>
            <a:endParaRPr lang="en-US" sz="2400" dirty="0"/>
          </a:p>
        </p:txBody>
      </p:sp>
      <p:sp>
        <p:nvSpPr>
          <p:cNvPr id="19" name="Text 9">
            <a:extLst>
              <a:ext uri="{FF2B5EF4-FFF2-40B4-BE49-F238E27FC236}">
                <a16:creationId xmlns:a16="http://schemas.microsoft.com/office/drawing/2014/main" id="{8194EC31-C642-A9FA-96E5-8FE0B07EAD58}"/>
              </a:ext>
            </a:extLst>
          </p:cNvPr>
          <p:cNvSpPr/>
          <p:nvPr/>
        </p:nvSpPr>
        <p:spPr>
          <a:xfrm>
            <a:off x="344143" y="5046041"/>
            <a:ext cx="2395728" cy="320040"/>
          </a:xfrm>
          <a:prstGeom prst="rect">
            <a:avLst/>
          </a:prstGeom>
          <a:noFill/>
          <a:ln/>
        </p:spPr>
        <p:txBody>
          <a:bodyPr wrap="square" lIns="0" tIns="0" rIns="0" bIns="0" rtlCol="0" anchor="ctr"/>
          <a:lstStyle/>
          <a:p>
            <a:pPr marL="0" indent="0" algn="ctr">
              <a:buNone/>
            </a:pPr>
            <a:r>
              <a:rPr lang="en-US" sz="1050" dirty="0">
                <a:solidFill>
                  <a:srgbClr val="8079A0"/>
                </a:solidFill>
                <a:latin typeface="Calibri" pitchFamily="34" charset="0"/>
                <a:ea typeface="Calibri" pitchFamily="34" charset="-122"/>
                <a:cs typeface="Calibri" pitchFamily="34" charset="-120"/>
              </a:rPr>
              <a:t>Total Revenue</a:t>
            </a:r>
            <a:endParaRPr lang="en-US" sz="1050" dirty="0"/>
          </a:p>
        </p:txBody>
      </p:sp>
      <p:sp>
        <p:nvSpPr>
          <p:cNvPr id="21" name="Shape 10">
            <a:extLst>
              <a:ext uri="{FF2B5EF4-FFF2-40B4-BE49-F238E27FC236}">
                <a16:creationId xmlns:a16="http://schemas.microsoft.com/office/drawing/2014/main" id="{AB213E14-ECDF-A75A-65EB-EC86D3DEFFCC}"/>
              </a:ext>
            </a:extLst>
          </p:cNvPr>
          <p:cNvSpPr/>
          <p:nvPr/>
        </p:nvSpPr>
        <p:spPr>
          <a:xfrm>
            <a:off x="2652683" y="4387673"/>
            <a:ext cx="1143116" cy="1051560"/>
          </a:xfrm>
          <a:prstGeom prst="roundRect">
            <a:avLst>
              <a:gd name="adj" fmla="val 6957"/>
            </a:avLst>
          </a:prstGeom>
          <a:solidFill>
            <a:srgbClr val="FFFFFF"/>
          </a:solidFill>
          <a:ln w="12700">
            <a:solidFill>
              <a:srgbClr val="E4DBFF"/>
            </a:solidFill>
            <a:prstDash val="solid"/>
          </a:ln>
          <a:effectLst>
            <a:outerShdw blurRad="101600" dist="25400" dir="5400000" algn="bl" rotWithShape="0">
              <a:srgbClr val="9B8AC4">
                <a:alpha val="18000"/>
              </a:srgbClr>
            </a:outerShdw>
          </a:effectLst>
        </p:spPr>
        <p:txBody>
          <a:bodyPr/>
          <a:lstStyle/>
          <a:p>
            <a:endParaRPr lang="en-IN"/>
          </a:p>
        </p:txBody>
      </p:sp>
      <p:sp>
        <p:nvSpPr>
          <p:cNvPr id="23" name="Text 11">
            <a:extLst>
              <a:ext uri="{FF2B5EF4-FFF2-40B4-BE49-F238E27FC236}">
                <a16:creationId xmlns:a16="http://schemas.microsoft.com/office/drawing/2014/main" id="{BD0AB308-CC3F-09DC-5063-90B9FCB2EA1F}"/>
              </a:ext>
            </a:extLst>
          </p:cNvPr>
          <p:cNvSpPr/>
          <p:nvPr/>
        </p:nvSpPr>
        <p:spPr>
          <a:xfrm>
            <a:off x="1994431" y="4533977"/>
            <a:ext cx="2395728" cy="502920"/>
          </a:xfrm>
          <a:prstGeom prst="rect">
            <a:avLst/>
          </a:prstGeom>
          <a:noFill/>
          <a:ln/>
        </p:spPr>
        <p:txBody>
          <a:bodyPr wrap="square" lIns="0" tIns="0" rIns="0" bIns="0" rtlCol="0" anchor="ctr"/>
          <a:lstStyle/>
          <a:p>
            <a:pPr marL="0" indent="0" algn="ctr">
              <a:buNone/>
            </a:pPr>
            <a:r>
              <a:rPr lang="en-US" sz="2400" b="1" dirty="0">
                <a:solidFill>
                  <a:srgbClr val="8874C0"/>
                </a:solidFill>
                <a:latin typeface="Cambria" pitchFamily="34" charset="0"/>
                <a:ea typeface="Cambria" pitchFamily="34" charset="-122"/>
                <a:cs typeface="Cambria" pitchFamily="34" charset="-120"/>
              </a:rPr>
              <a:t>501</a:t>
            </a:r>
            <a:endParaRPr lang="en-US" sz="2400" dirty="0"/>
          </a:p>
        </p:txBody>
      </p:sp>
      <p:sp>
        <p:nvSpPr>
          <p:cNvPr id="25" name="Text 12">
            <a:extLst>
              <a:ext uri="{FF2B5EF4-FFF2-40B4-BE49-F238E27FC236}">
                <a16:creationId xmlns:a16="http://schemas.microsoft.com/office/drawing/2014/main" id="{40298653-F62C-449E-5DB5-8F3D8F476EDD}"/>
              </a:ext>
            </a:extLst>
          </p:cNvPr>
          <p:cNvSpPr/>
          <p:nvPr/>
        </p:nvSpPr>
        <p:spPr>
          <a:xfrm>
            <a:off x="1994431" y="5046041"/>
            <a:ext cx="2395728" cy="320040"/>
          </a:xfrm>
          <a:prstGeom prst="rect">
            <a:avLst/>
          </a:prstGeom>
          <a:noFill/>
          <a:ln/>
        </p:spPr>
        <p:txBody>
          <a:bodyPr wrap="square" lIns="0" tIns="0" rIns="0" bIns="0" rtlCol="0" anchor="ctr"/>
          <a:lstStyle/>
          <a:p>
            <a:pPr marL="0" indent="0" algn="ctr">
              <a:buNone/>
            </a:pPr>
            <a:r>
              <a:rPr lang="en-US" sz="1050" dirty="0">
                <a:solidFill>
                  <a:srgbClr val="8079A0"/>
                </a:solidFill>
                <a:latin typeface="Calibri" pitchFamily="34" charset="0"/>
                <a:ea typeface="Calibri" pitchFamily="34" charset="-122"/>
                <a:cs typeface="Calibri" pitchFamily="34" charset="-120"/>
              </a:rPr>
              <a:t>Total Orders</a:t>
            </a:r>
            <a:endParaRPr lang="en-US" sz="1050" dirty="0"/>
          </a:p>
        </p:txBody>
      </p:sp>
      <p:sp>
        <p:nvSpPr>
          <p:cNvPr id="27" name="Shape 13">
            <a:extLst>
              <a:ext uri="{FF2B5EF4-FFF2-40B4-BE49-F238E27FC236}">
                <a16:creationId xmlns:a16="http://schemas.microsoft.com/office/drawing/2014/main" id="{2A8EAD26-96B7-E3E1-25BC-372A0145BB0A}"/>
              </a:ext>
            </a:extLst>
          </p:cNvPr>
          <p:cNvSpPr/>
          <p:nvPr/>
        </p:nvSpPr>
        <p:spPr>
          <a:xfrm>
            <a:off x="4126971" y="4387673"/>
            <a:ext cx="1335139" cy="1051560"/>
          </a:xfrm>
          <a:prstGeom prst="roundRect">
            <a:avLst>
              <a:gd name="adj" fmla="val 6957"/>
            </a:avLst>
          </a:prstGeom>
          <a:solidFill>
            <a:srgbClr val="FFFFFF"/>
          </a:solidFill>
          <a:ln w="12700">
            <a:solidFill>
              <a:srgbClr val="E4DBFF"/>
            </a:solidFill>
            <a:prstDash val="solid"/>
          </a:ln>
          <a:effectLst>
            <a:outerShdw blurRad="101600" dist="25400" dir="5400000" algn="bl" rotWithShape="0">
              <a:srgbClr val="9B8AC4">
                <a:alpha val="18000"/>
              </a:srgbClr>
            </a:outerShdw>
          </a:effectLst>
        </p:spPr>
        <p:txBody>
          <a:bodyPr/>
          <a:lstStyle/>
          <a:p>
            <a:endParaRPr lang="en-IN"/>
          </a:p>
        </p:txBody>
      </p:sp>
      <p:sp>
        <p:nvSpPr>
          <p:cNvPr id="29" name="Text 14">
            <a:extLst>
              <a:ext uri="{FF2B5EF4-FFF2-40B4-BE49-F238E27FC236}">
                <a16:creationId xmlns:a16="http://schemas.microsoft.com/office/drawing/2014/main" id="{81CD382A-21C8-A86E-E8E8-E3828B61196F}"/>
              </a:ext>
            </a:extLst>
          </p:cNvPr>
          <p:cNvSpPr/>
          <p:nvPr/>
        </p:nvSpPr>
        <p:spPr>
          <a:xfrm>
            <a:off x="3619710" y="4505330"/>
            <a:ext cx="2395728" cy="502920"/>
          </a:xfrm>
          <a:prstGeom prst="rect">
            <a:avLst/>
          </a:prstGeom>
          <a:noFill/>
          <a:ln/>
        </p:spPr>
        <p:txBody>
          <a:bodyPr wrap="square" lIns="0" tIns="0" rIns="0" bIns="0" rtlCol="0" anchor="ctr"/>
          <a:lstStyle/>
          <a:p>
            <a:pPr marL="0" indent="0" algn="ctr">
              <a:buNone/>
            </a:pPr>
            <a:r>
              <a:rPr lang="en-US" sz="2400" b="1" dirty="0">
                <a:solidFill>
                  <a:srgbClr val="8874C0"/>
                </a:solidFill>
                <a:latin typeface="Cambria" pitchFamily="34" charset="0"/>
                <a:ea typeface="Cambria" pitchFamily="34" charset="-122"/>
                <a:cs typeface="Cambria" pitchFamily="34" charset="-120"/>
              </a:rPr>
              <a:t>263.67</a:t>
            </a:r>
            <a:endParaRPr lang="en-US" sz="2400" dirty="0"/>
          </a:p>
        </p:txBody>
      </p:sp>
      <p:sp>
        <p:nvSpPr>
          <p:cNvPr id="31" name="Text 15">
            <a:extLst>
              <a:ext uri="{FF2B5EF4-FFF2-40B4-BE49-F238E27FC236}">
                <a16:creationId xmlns:a16="http://schemas.microsoft.com/office/drawing/2014/main" id="{556E07B5-2524-767C-B34D-C14F719A0506}"/>
              </a:ext>
            </a:extLst>
          </p:cNvPr>
          <p:cNvSpPr/>
          <p:nvPr/>
        </p:nvSpPr>
        <p:spPr>
          <a:xfrm>
            <a:off x="3619710" y="5017394"/>
            <a:ext cx="2395728" cy="320040"/>
          </a:xfrm>
          <a:prstGeom prst="rect">
            <a:avLst/>
          </a:prstGeom>
          <a:noFill/>
          <a:ln/>
        </p:spPr>
        <p:txBody>
          <a:bodyPr wrap="square" lIns="0" tIns="0" rIns="0" bIns="0" rtlCol="0" anchor="ctr"/>
          <a:lstStyle/>
          <a:p>
            <a:pPr marL="0" indent="0" algn="ctr">
              <a:buNone/>
            </a:pPr>
            <a:r>
              <a:rPr lang="en-US" sz="1050" dirty="0">
                <a:solidFill>
                  <a:srgbClr val="8079A0"/>
                </a:solidFill>
                <a:latin typeface="Calibri" pitchFamily="34" charset="0"/>
                <a:ea typeface="Calibri" pitchFamily="34" charset="-122"/>
                <a:cs typeface="Calibri" pitchFamily="34" charset="-120"/>
              </a:rPr>
              <a:t>Avg Order Value</a:t>
            </a:r>
            <a:endParaRPr lang="en-US" sz="1050" dirty="0"/>
          </a:p>
        </p:txBody>
      </p:sp>
      <p:sp>
        <p:nvSpPr>
          <p:cNvPr id="33" name="Shape 16">
            <a:extLst>
              <a:ext uri="{FF2B5EF4-FFF2-40B4-BE49-F238E27FC236}">
                <a16:creationId xmlns:a16="http://schemas.microsoft.com/office/drawing/2014/main" id="{503E0813-DBEC-D3E2-FB68-F9F4FE07CB82}"/>
              </a:ext>
            </a:extLst>
          </p:cNvPr>
          <p:cNvSpPr/>
          <p:nvPr/>
        </p:nvSpPr>
        <p:spPr>
          <a:xfrm>
            <a:off x="5793282" y="4387673"/>
            <a:ext cx="1567331" cy="1051560"/>
          </a:xfrm>
          <a:prstGeom prst="roundRect">
            <a:avLst>
              <a:gd name="adj" fmla="val 6957"/>
            </a:avLst>
          </a:prstGeom>
          <a:solidFill>
            <a:srgbClr val="FFFFFF"/>
          </a:solidFill>
          <a:ln w="12700">
            <a:solidFill>
              <a:srgbClr val="E4DBFF"/>
            </a:solidFill>
            <a:prstDash val="solid"/>
          </a:ln>
          <a:effectLst>
            <a:outerShdw blurRad="101600" dist="25400" dir="5400000" algn="bl" rotWithShape="0">
              <a:srgbClr val="9B8AC4">
                <a:alpha val="18000"/>
              </a:srgbClr>
            </a:outerShdw>
          </a:effectLst>
        </p:spPr>
        <p:txBody>
          <a:bodyPr/>
          <a:lstStyle/>
          <a:p>
            <a:endParaRPr lang="en-IN"/>
          </a:p>
        </p:txBody>
      </p:sp>
      <p:sp>
        <p:nvSpPr>
          <p:cNvPr id="35" name="Text 17">
            <a:extLst>
              <a:ext uri="{FF2B5EF4-FFF2-40B4-BE49-F238E27FC236}">
                <a16:creationId xmlns:a16="http://schemas.microsoft.com/office/drawing/2014/main" id="{6A0E9692-8C9D-F6A5-31B8-58E23E5B9C6C}"/>
              </a:ext>
            </a:extLst>
          </p:cNvPr>
          <p:cNvSpPr/>
          <p:nvPr/>
        </p:nvSpPr>
        <p:spPr>
          <a:xfrm>
            <a:off x="5373622" y="4486811"/>
            <a:ext cx="2395728" cy="502920"/>
          </a:xfrm>
          <a:prstGeom prst="rect">
            <a:avLst/>
          </a:prstGeom>
          <a:noFill/>
          <a:ln/>
        </p:spPr>
        <p:txBody>
          <a:bodyPr wrap="square" lIns="0" tIns="0" rIns="0" bIns="0" rtlCol="0" anchor="ctr"/>
          <a:lstStyle/>
          <a:p>
            <a:pPr marL="0" indent="0" algn="ctr">
              <a:buNone/>
            </a:pPr>
            <a:r>
              <a:rPr lang="en-US" sz="2400" b="1" dirty="0">
                <a:solidFill>
                  <a:srgbClr val="8874C0"/>
                </a:solidFill>
                <a:latin typeface="Cambria" pitchFamily="34" charset="0"/>
                <a:ea typeface="Cambria" pitchFamily="34" charset="-122"/>
                <a:cs typeface="Cambria" pitchFamily="34" charset="-120"/>
              </a:rPr>
              <a:t>69</a:t>
            </a:r>
            <a:endParaRPr lang="en-US" sz="2400" dirty="0"/>
          </a:p>
        </p:txBody>
      </p:sp>
      <p:sp>
        <p:nvSpPr>
          <p:cNvPr id="37" name="Text 18">
            <a:extLst>
              <a:ext uri="{FF2B5EF4-FFF2-40B4-BE49-F238E27FC236}">
                <a16:creationId xmlns:a16="http://schemas.microsoft.com/office/drawing/2014/main" id="{E9F04CD4-357C-B74C-57E1-0A1B193D5489}"/>
              </a:ext>
            </a:extLst>
          </p:cNvPr>
          <p:cNvSpPr/>
          <p:nvPr/>
        </p:nvSpPr>
        <p:spPr>
          <a:xfrm>
            <a:off x="5373622" y="4998875"/>
            <a:ext cx="2395728" cy="320040"/>
          </a:xfrm>
          <a:prstGeom prst="rect">
            <a:avLst/>
          </a:prstGeom>
          <a:noFill/>
          <a:ln/>
        </p:spPr>
        <p:txBody>
          <a:bodyPr wrap="square" lIns="0" tIns="0" rIns="0" bIns="0" rtlCol="0" anchor="ctr"/>
          <a:lstStyle/>
          <a:p>
            <a:pPr marL="0" indent="0" algn="ctr">
              <a:buNone/>
            </a:pPr>
            <a:r>
              <a:rPr lang="en-US" sz="1050" dirty="0">
                <a:solidFill>
                  <a:srgbClr val="8079A0"/>
                </a:solidFill>
                <a:latin typeface="Calibri" pitchFamily="34" charset="0"/>
                <a:ea typeface="Calibri" pitchFamily="34" charset="-122"/>
                <a:cs typeface="Calibri" pitchFamily="34" charset="-120"/>
              </a:rPr>
              <a:t>New Customers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3"/>
          <a:stretch>
            <a:fillRect/>
          </a:stretch>
        </p:blipFill>
        <p:spPr>
          <a:xfrm>
            <a:off x="10408615" y="347472"/>
            <a:ext cx="1325880" cy="455604"/>
          </a:xfrm>
          <a:prstGeom prst="rect">
            <a:avLst/>
          </a:prstGeom>
        </p:spPr>
      </p:pic>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4A3F6B"/>
                </a:solidFill>
                <a:latin typeface="Cambria" pitchFamily="34" charset="0"/>
                <a:ea typeface="Cambria" pitchFamily="34" charset="-122"/>
                <a:cs typeface="Cambria" pitchFamily="34" charset="-120"/>
              </a:rPr>
              <a:t>Tools &amp; Technologies Used</a:t>
            </a:r>
            <a:endParaRPr lang="en-US" sz="3200" dirty="0"/>
          </a:p>
        </p:txBody>
      </p:sp>
      <p:sp>
        <p:nvSpPr>
          <p:cNvPr id="5" name="Shape 2"/>
          <p:cNvSpPr/>
          <p:nvPr/>
        </p:nvSpPr>
        <p:spPr>
          <a:xfrm>
            <a:off x="548640" y="1645920"/>
            <a:ext cx="3611880" cy="1965960"/>
          </a:xfrm>
          <a:prstGeom prst="roundRect">
            <a:avLst>
              <a:gd name="adj" fmla="val 4186"/>
            </a:avLst>
          </a:prstGeom>
          <a:solidFill>
            <a:srgbClr val="FAF8FF"/>
          </a:solidFill>
          <a:ln w="12700">
            <a:solidFill>
              <a:srgbClr val="E4DBFF"/>
            </a:solidFill>
            <a:prstDash val="solid"/>
          </a:ln>
        </p:spPr>
        <p:txBody>
          <a:bodyPr/>
          <a:lstStyle/>
          <a:p>
            <a:endParaRPr lang="en-IN"/>
          </a:p>
        </p:txBody>
      </p:sp>
      <p:sp>
        <p:nvSpPr>
          <p:cNvPr id="6" name="Shape 3"/>
          <p:cNvSpPr/>
          <p:nvPr/>
        </p:nvSpPr>
        <p:spPr>
          <a:xfrm>
            <a:off x="804672" y="1901952"/>
            <a:ext cx="566928" cy="566928"/>
          </a:xfrm>
          <a:prstGeom prst="ellipse">
            <a:avLst/>
          </a:prstGeom>
          <a:solidFill>
            <a:srgbClr val="8874C0"/>
          </a:solidFill>
          <a:ln/>
        </p:spPr>
        <p:txBody>
          <a:bodyPr/>
          <a:lstStyle/>
          <a:p>
            <a:endParaRPr lang="en-IN"/>
          </a:p>
        </p:txBody>
      </p:sp>
      <p:pic>
        <p:nvPicPr>
          <p:cNvPr id="7" name="Image 1" descr="/home/claude/assets/gear.png"/>
          <p:cNvPicPr>
            <a:picLocks noChangeAspect="1"/>
          </p:cNvPicPr>
          <p:nvPr/>
        </p:nvPicPr>
        <p:blipFill>
          <a:blip r:embed="rId4"/>
          <a:stretch>
            <a:fillRect/>
          </a:stretch>
        </p:blipFill>
        <p:spPr>
          <a:xfrm>
            <a:off x="929396" y="2026676"/>
            <a:ext cx="317480" cy="317480"/>
          </a:xfrm>
          <a:prstGeom prst="rect">
            <a:avLst/>
          </a:prstGeom>
        </p:spPr>
      </p:pic>
      <p:sp>
        <p:nvSpPr>
          <p:cNvPr id="8" name="Text 4"/>
          <p:cNvSpPr/>
          <p:nvPr/>
        </p:nvSpPr>
        <p:spPr>
          <a:xfrm>
            <a:off x="804672" y="2578608"/>
            <a:ext cx="3108960" cy="365760"/>
          </a:xfrm>
          <a:prstGeom prst="rect">
            <a:avLst/>
          </a:prstGeom>
          <a:noFill/>
          <a:ln/>
        </p:spPr>
        <p:txBody>
          <a:bodyPr wrap="square" lIns="0" tIns="0" rIns="0" bIns="0" rtlCol="0" anchor="ctr"/>
          <a:lstStyle/>
          <a:p>
            <a:pPr marL="0" indent="0">
              <a:buNone/>
            </a:pPr>
            <a:r>
              <a:rPr lang="en-US" sz="1450" b="1" dirty="0">
                <a:solidFill>
                  <a:srgbClr val="4A3F6B"/>
                </a:solidFill>
                <a:latin typeface="Cambria" pitchFamily="34" charset="0"/>
                <a:ea typeface="Cambria" pitchFamily="34" charset="-122"/>
                <a:cs typeface="Cambria" pitchFamily="34" charset="-120"/>
              </a:rPr>
              <a:t>Power BI Desktop</a:t>
            </a:r>
            <a:endParaRPr lang="en-US" sz="1450" dirty="0"/>
          </a:p>
        </p:txBody>
      </p:sp>
      <p:sp>
        <p:nvSpPr>
          <p:cNvPr id="9" name="Text 5"/>
          <p:cNvSpPr/>
          <p:nvPr/>
        </p:nvSpPr>
        <p:spPr>
          <a:xfrm>
            <a:off x="804672" y="2944368"/>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8079A0"/>
                </a:solidFill>
                <a:latin typeface="Calibri" pitchFamily="34" charset="0"/>
                <a:ea typeface="Calibri" pitchFamily="34" charset="-122"/>
                <a:cs typeface="Calibri" pitchFamily="34" charset="-120"/>
              </a:rPr>
              <a:t>Core platform used to build the interactive dashboard and reports.</a:t>
            </a:r>
            <a:endParaRPr lang="en-US" sz="1050" dirty="0"/>
          </a:p>
        </p:txBody>
      </p:sp>
      <p:sp>
        <p:nvSpPr>
          <p:cNvPr id="10" name="Shape 6"/>
          <p:cNvSpPr/>
          <p:nvPr/>
        </p:nvSpPr>
        <p:spPr>
          <a:xfrm>
            <a:off x="4343400" y="1645920"/>
            <a:ext cx="3611880" cy="1965960"/>
          </a:xfrm>
          <a:prstGeom prst="roundRect">
            <a:avLst>
              <a:gd name="adj" fmla="val 4186"/>
            </a:avLst>
          </a:prstGeom>
          <a:solidFill>
            <a:srgbClr val="FAF8FF"/>
          </a:solidFill>
          <a:ln w="12700">
            <a:solidFill>
              <a:srgbClr val="E4DBFF"/>
            </a:solidFill>
            <a:prstDash val="solid"/>
          </a:ln>
        </p:spPr>
        <p:txBody>
          <a:bodyPr/>
          <a:lstStyle/>
          <a:p>
            <a:endParaRPr lang="en-IN"/>
          </a:p>
        </p:txBody>
      </p:sp>
      <p:sp>
        <p:nvSpPr>
          <p:cNvPr id="11" name="Shape 7"/>
          <p:cNvSpPr/>
          <p:nvPr/>
        </p:nvSpPr>
        <p:spPr>
          <a:xfrm>
            <a:off x="4599432" y="1901952"/>
            <a:ext cx="566928" cy="566928"/>
          </a:xfrm>
          <a:prstGeom prst="ellipse">
            <a:avLst/>
          </a:prstGeom>
          <a:solidFill>
            <a:srgbClr val="8874C0"/>
          </a:solidFill>
          <a:ln/>
        </p:spPr>
        <p:txBody>
          <a:bodyPr/>
          <a:lstStyle/>
          <a:p>
            <a:endParaRPr lang="en-IN"/>
          </a:p>
        </p:txBody>
      </p:sp>
      <p:pic>
        <p:nvPicPr>
          <p:cNvPr id="12" name="Image 2" descr="/home/claude/assets/wand.png"/>
          <p:cNvPicPr>
            <a:picLocks noChangeAspect="1"/>
          </p:cNvPicPr>
          <p:nvPr/>
        </p:nvPicPr>
        <p:blipFill>
          <a:blip r:embed="rId5"/>
          <a:stretch>
            <a:fillRect/>
          </a:stretch>
        </p:blipFill>
        <p:spPr>
          <a:xfrm>
            <a:off x="4724156" y="2026676"/>
            <a:ext cx="317480" cy="317480"/>
          </a:xfrm>
          <a:prstGeom prst="rect">
            <a:avLst/>
          </a:prstGeom>
        </p:spPr>
      </p:pic>
      <p:sp>
        <p:nvSpPr>
          <p:cNvPr id="13" name="Text 8"/>
          <p:cNvSpPr/>
          <p:nvPr/>
        </p:nvSpPr>
        <p:spPr>
          <a:xfrm>
            <a:off x="4599432" y="2578608"/>
            <a:ext cx="3108960" cy="365760"/>
          </a:xfrm>
          <a:prstGeom prst="rect">
            <a:avLst/>
          </a:prstGeom>
          <a:noFill/>
          <a:ln/>
        </p:spPr>
        <p:txBody>
          <a:bodyPr wrap="square" lIns="0" tIns="0" rIns="0" bIns="0" rtlCol="0" anchor="ctr"/>
          <a:lstStyle/>
          <a:p>
            <a:pPr marL="0" indent="0">
              <a:buNone/>
            </a:pPr>
            <a:r>
              <a:rPr lang="en-US" sz="1450" b="1" dirty="0">
                <a:solidFill>
                  <a:srgbClr val="4A3F6B"/>
                </a:solidFill>
                <a:latin typeface="Cambria" pitchFamily="34" charset="0"/>
                <a:ea typeface="Cambria" pitchFamily="34" charset="-122"/>
                <a:cs typeface="Cambria" pitchFamily="34" charset="-120"/>
              </a:rPr>
              <a:t>Power Query</a:t>
            </a:r>
            <a:endParaRPr lang="en-US" sz="1450" dirty="0"/>
          </a:p>
        </p:txBody>
      </p:sp>
      <p:sp>
        <p:nvSpPr>
          <p:cNvPr id="14" name="Text 9"/>
          <p:cNvSpPr/>
          <p:nvPr/>
        </p:nvSpPr>
        <p:spPr>
          <a:xfrm>
            <a:off x="4599432" y="2944368"/>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8079A0"/>
                </a:solidFill>
                <a:latin typeface="Calibri" pitchFamily="34" charset="0"/>
                <a:ea typeface="Calibri" pitchFamily="34" charset="-122"/>
                <a:cs typeface="Calibri" pitchFamily="34" charset="-120"/>
              </a:rPr>
              <a:t>Cleaned, transformed and merged the Sales, Payments &amp; Delivery tables.</a:t>
            </a:r>
            <a:endParaRPr lang="en-US" sz="1050" dirty="0"/>
          </a:p>
        </p:txBody>
      </p:sp>
      <p:sp>
        <p:nvSpPr>
          <p:cNvPr id="15" name="Shape 10"/>
          <p:cNvSpPr/>
          <p:nvPr/>
        </p:nvSpPr>
        <p:spPr>
          <a:xfrm>
            <a:off x="8138160" y="1645920"/>
            <a:ext cx="3611880" cy="1965960"/>
          </a:xfrm>
          <a:prstGeom prst="roundRect">
            <a:avLst>
              <a:gd name="adj" fmla="val 4186"/>
            </a:avLst>
          </a:prstGeom>
          <a:solidFill>
            <a:srgbClr val="FAF8FF"/>
          </a:solidFill>
          <a:ln w="12700">
            <a:solidFill>
              <a:srgbClr val="E4DBFF"/>
            </a:solidFill>
            <a:prstDash val="solid"/>
          </a:ln>
        </p:spPr>
        <p:txBody>
          <a:bodyPr/>
          <a:lstStyle/>
          <a:p>
            <a:endParaRPr lang="en-IN"/>
          </a:p>
        </p:txBody>
      </p:sp>
      <p:sp>
        <p:nvSpPr>
          <p:cNvPr id="16" name="Shape 11"/>
          <p:cNvSpPr/>
          <p:nvPr/>
        </p:nvSpPr>
        <p:spPr>
          <a:xfrm>
            <a:off x="8394192" y="1901952"/>
            <a:ext cx="566928" cy="566928"/>
          </a:xfrm>
          <a:prstGeom prst="ellipse">
            <a:avLst/>
          </a:prstGeom>
          <a:solidFill>
            <a:srgbClr val="8874C0"/>
          </a:solidFill>
          <a:ln/>
        </p:spPr>
        <p:txBody>
          <a:bodyPr/>
          <a:lstStyle/>
          <a:p>
            <a:endParaRPr lang="en-IN"/>
          </a:p>
        </p:txBody>
      </p:sp>
      <p:pic>
        <p:nvPicPr>
          <p:cNvPr id="17" name="Image 3" descr="/home/claude/assets/layer.png"/>
          <p:cNvPicPr>
            <a:picLocks noChangeAspect="1"/>
          </p:cNvPicPr>
          <p:nvPr/>
        </p:nvPicPr>
        <p:blipFill>
          <a:blip r:embed="rId6"/>
          <a:stretch>
            <a:fillRect/>
          </a:stretch>
        </p:blipFill>
        <p:spPr>
          <a:xfrm>
            <a:off x="8518916" y="2026676"/>
            <a:ext cx="317480" cy="317480"/>
          </a:xfrm>
          <a:prstGeom prst="rect">
            <a:avLst/>
          </a:prstGeom>
        </p:spPr>
      </p:pic>
      <p:sp>
        <p:nvSpPr>
          <p:cNvPr id="18" name="Text 12"/>
          <p:cNvSpPr/>
          <p:nvPr/>
        </p:nvSpPr>
        <p:spPr>
          <a:xfrm>
            <a:off x="8394192" y="2578608"/>
            <a:ext cx="3108960" cy="365760"/>
          </a:xfrm>
          <a:prstGeom prst="rect">
            <a:avLst/>
          </a:prstGeom>
          <a:noFill/>
          <a:ln/>
        </p:spPr>
        <p:txBody>
          <a:bodyPr wrap="square" lIns="0" tIns="0" rIns="0" bIns="0" rtlCol="0" anchor="ctr"/>
          <a:lstStyle/>
          <a:p>
            <a:pPr marL="0" indent="0">
              <a:buNone/>
            </a:pPr>
            <a:r>
              <a:rPr lang="en-US" sz="1450" b="1" dirty="0">
                <a:solidFill>
                  <a:srgbClr val="4A3F6B"/>
                </a:solidFill>
                <a:latin typeface="Cambria" pitchFamily="34" charset="0"/>
                <a:ea typeface="Cambria" pitchFamily="34" charset="-122"/>
                <a:cs typeface="Cambria" pitchFamily="34" charset="-120"/>
              </a:rPr>
              <a:t>Data Modeling</a:t>
            </a:r>
            <a:endParaRPr lang="en-US" sz="1450" dirty="0"/>
          </a:p>
        </p:txBody>
      </p:sp>
      <p:sp>
        <p:nvSpPr>
          <p:cNvPr id="19" name="Text 13"/>
          <p:cNvSpPr/>
          <p:nvPr/>
        </p:nvSpPr>
        <p:spPr>
          <a:xfrm>
            <a:off x="8394192" y="2944368"/>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8079A0"/>
                </a:solidFill>
                <a:latin typeface="Calibri" pitchFamily="34" charset="0"/>
                <a:ea typeface="Calibri" pitchFamily="34" charset="-122"/>
                <a:cs typeface="Calibri" pitchFamily="34" charset="-120"/>
              </a:rPr>
              <a:t>Built relationships across tables for accurate cross-filtering.</a:t>
            </a:r>
            <a:endParaRPr lang="en-US" sz="1050" dirty="0"/>
          </a:p>
        </p:txBody>
      </p:sp>
      <p:sp>
        <p:nvSpPr>
          <p:cNvPr id="20" name="Shape 14"/>
          <p:cNvSpPr/>
          <p:nvPr/>
        </p:nvSpPr>
        <p:spPr>
          <a:xfrm>
            <a:off x="548640" y="3813048"/>
            <a:ext cx="3611880" cy="1965960"/>
          </a:xfrm>
          <a:prstGeom prst="roundRect">
            <a:avLst>
              <a:gd name="adj" fmla="val 4186"/>
            </a:avLst>
          </a:prstGeom>
          <a:solidFill>
            <a:srgbClr val="FAF8FF"/>
          </a:solidFill>
          <a:ln w="12700">
            <a:solidFill>
              <a:srgbClr val="E4DBFF"/>
            </a:solidFill>
            <a:prstDash val="solid"/>
          </a:ln>
        </p:spPr>
        <p:txBody>
          <a:bodyPr/>
          <a:lstStyle/>
          <a:p>
            <a:endParaRPr lang="en-IN"/>
          </a:p>
        </p:txBody>
      </p:sp>
      <p:sp>
        <p:nvSpPr>
          <p:cNvPr id="21" name="Shape 15"/>
          <p:cNvSpPr/>
          <p:nvPr/>
        </p:nvSpPr>
        <p:spPr>
          <a:xfrm>
            <a:off x="804672" y="4069080"/>
            <a:ext cx="566928" cy="566928"/>
          </a:xfrm>
          <a:prstGeom prst="ellipse">
            <a:avLst/>
          </a:prstGeom>
          <a:solidFill>
            <a:srgbClr val="8874C0"/>
          </a:solidFill>
          <a:ln/>
        </p:spPr>
        <p:txBody>
          <a:bodyPr/>
          <a:lstStyle/>
          <a:p>
            <a:endParaRPr lang="en-IN"/>
          </a:p>
        </p:txBody>
      </p:sp>
      <p:pic>
        <p:nvPicPr>
          <p:cNvPr id="22" name="Image 4" descr="/home/claude/assets/bolt.png"/>
          <p:cNvPicPr>
            <a:picLocks noChangeAspect="1"/>
          </p:cNvPicPr>
          <p:nvPr/>
        </p:nvPicPr>
        <p:blipFill>
          <a:blip r:embed="rId7"/>
          <a:stretch>
            <a:fillRect/>
          </a:stretch>
        </p:blipFill>
        <p:spPr>
          <a:xfrm>
            <a:off x="929396" y="4193804"/>
            <a:ext cx="317480" cy="317480"/>
          </a:xfrm>
          <a:prstGeom prst="rect">
            <a:avLst/>
          </a:prstGeom>
        </p:spPr>
      </p:pic>
      <p:sp>
        <p:nvSpPr>
          <p:cNvPr id="23" name="Text 16"/>
          <p:cNvSpPr/>
          <p:nvPr/>
        </p:nvSpPr>
        <p:spPr>
          <a:xfrm>
            <a:off x="804672" y="4745736"/>
            <a:ext cx="3108960" cy="365760"/>
          </a:xfrm>
          <a:prstGeom prst="rect">
            <a:avLst/>
          </a:prstGeom>
          <a:noFill/>
          <a:ln/>
        </p:spPr>
        <p:txBody>
          <a:bodyPr wrap="square" lIns="0" tIns="0" rIns="0" bIns="0" rtlCol="0" anchor="ctr"/>
          <a:lstStyle/>
          <a:p>
            <a:pPr marL="0" indent="0">
              <a:buNone/>
            </a:pPr>
            <a:r>
              <a:rPr lang="en-US" sz="1450" b="1" dirty="0">
                <a:solidFill>
                  <a:srgbClr val="4A3F6B"/>
                </a:solidFill>
                <a:latin typeface="Cambria" pitchFamily="34" charset="0"/>
                <a:ea typeface="Cambria" pitchFamily="34" charset="-122"/>
                <a:cs typeface="Cambria" pitchFamily="34" charset="-120"/>
              </a:rPr>
              <a:t>DAX Measures</a:t>
            </a:r>
            <a:endParaRPr lang="en-US" sz="1450" dirty="0"/>
          </a:p>
        </p:txBody>
      </p:sp>
      <p:sp>
        <p:nvSpPr>
          <p:cNvPr id="24" name="Text 17"/>
          <p:cNvSpPr/>
          <p:nvPr/>
        </p:nvSpPr>
        <p:spPr>
          <a:xfrm>
            <a:off x="804672" y="5111496"/>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8079A0"/>
                </a:solidFill>
                <a:latin typeface="Calibri" pitchFamily="34" charset="0"/>
                <a:ea typeface="Calibri" pitchFamily="34" charset="-122"/>
                <a:cs typeface="Calibri" pitchFamily="34" charset="-120"/>
              </a:rPr>
              <a:t>Custom formulas for revenue, AOV, on-time delivery % and more.</a:t>
            </a:r>
            <a:endParaRPr lang="en-US" sz="1050" dirty="0"/>
          </a:p>
        </p:txBody>
      </p:sp>
      <p:sp>
        <p:nvSpPr>
          <p:cNvPr id="25" name="Shape 18"/>
          <p:cNvSpPr/>
          <p:nvPr/>
        </p:nvSpPr>
        <p:spPr>
          <a:xfrm>
            <a:off x="4343400" y="3813048"/>
            <a:ext cx="3611880" cy="1965960"/>
          </a:xfrm>
          <a:prstGeom prst="roundRect">
            <a:avLst>
              <a:gd name="adj" fmla="val 4186"/>
            </a:avLst>
          </a:prstGeom>
          <a:solidFill>
            <a:srgbClr val="FAF8FF"/>
          </a:solidFill>
          <a:ln w="12700">
            <a:solidFill>
              <a:srgbClr val="E4DBFF"/>
            </a:solidFill>
            <a:prstDash val="solid"/>
          </a:ln>
        </p:spPr>
        <p:txBody>
          <a:bodyPr/>
          <a:lstStyle/>
          <a:p>
            <a:endParaRPr lang="en-IN"/>
          </a:p>
        </p:txBody>
      </p:sp>
      <p:sp>
        <p:nvSpPr>
          <p:cNvPr id="26" name="Shape 19"/>
          <p:cNvSpPr/>
          <p:nvPr/>
        </p:nvSpPr>
        <p:spPr>
          <a:xfrm>
            <a:off x="4599432" y="4069080"/>
            <a:ext cx="566928" cy="566928"/>
          </a:xfrm>
          <a:prstGeom prst="ellipse">
            <a:avLst/>
          </a:prstGeom>
          <a:solidFill>
            <a:srgbClr val="8874C0"/>
          </a:solidFill>
          <a:ln/>
        </p:spPr>
        <p:txBody>
          <a:bodyPr/>
          <a:lstStyle/>
          <a:p>
            <a:endParaRPr lang="en-IN"/>
          </a:p>
        </p:txBody>
      </p:sp>
      <p:pic>
        <p:nvPicPr>
          <p:cNvPr id="27" name="Image 5" descr="/home/claude/assets/filter.png"/>
          <p:cNvPicPr>
            <a:picLocks noChangeAspect="1"/>
          </p:cNvPicPr>
          <p:nvPr/>
        </p:nvPicPr>
        <p:blipFill>
          <a:blip r:embed="rId8"/>
          <a:stretch>
            <a:fillRect/>
          </a:stretch>
        </p:blipFill>
        <p:spPr>
          <a:xfrm>
            <a:off x="4724156" y="4193804"/>
            <a:ext cx="317480" cy="317480"/>
          </a:xfrm>
          <a:prstGeom prst="rect">
            <a:avLst/>
          </a:prstGeom>
        </p:spPr>
      </p:pic>
      <p:sp>
        <p:nvSpPr>
          <p:cNvPr id="28" name="Text 20"/>
          <p:cNvSpPr/>
          <p:nvPr/>
        </p:nvSpPr>
        <p:spPr>
          <a:xfrm>
            <a:off x="4599432" y="4745736"/>
            <a:ext cx="3108960" cy="365760"/>
          </a:xfrm>
          <a:prstGeom prst="rect">
            <a:avLst/>
          </a:prstGeom>
          <a:noFill/>
          <a:ln/>
        </p:spPr>
        <p:txBody>
          <a:bodyPr wrap="square" lIns="0" tIns="0" rIns="0" bIns="0" rtlCol="0" anchor="ctr"/>
          <a:lstStyle/>
          <a:p>
            <a:pPr marL="0" indent="0">
              <a:buNone/>
            </a:pPr>
            <a:r>
              <a:rPr lang="en-US" sz="1450" b="1" dirty="0">
                <a:solidFill>
                  <a:srgbClr val="4A3F6B"/>
                </a:solidFill>
                <a:latin typeface="Cambria" pitchFamily="34" charset="0"/>
                <a:ea typeface="Cambria" pitchFamily="34" charset="-122"/>
                <a:cs typeface="Cambria" pitchFamily="34" charset="-120"/>
              </a:rPr>
              <a:t>Interactive Slicers</a:t>
            </a:r>
            <a:endParaRPr lang="en-US" sz="1450" dirty="0"/>
          </a:p>
        </p:txBody>
      </p:sp>
      <p:sp>
        <p:nvSpPr>
          <p:cNvPr id="29" name="Text 21"/>
          <p:cNvSpPr/>
          <p:nvPr/>
        </p:nvSpPr>
        <p:spPr>
          <a:xfrm>
            <a:off x="4599432" y="5111496"/>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8079A0"/>
                </a:solidFill>
                <a:latin typeface="Calibri" pitchFamily="34" charset="0"/>
                <a:ea typeface="Calibri" pitchFamily="34" charset="-122"/>
                <a:cs typeface="Calibri" pitchFamily="34" charset="-120"/>
              </a:rPr>
              <a:t>Segment, state, order status and payment-type filters.</a:t>
            </a:r>
            <a:endParaRPr lang="en-US" sz="1050" dirty="0"/>
          </a:p>
        </p:txBody>
      </p:sp>
      <p:sp>
        <p:nvSpPr>
          <p:cNvPr id="30" name="Shape 22"/>
          <p:cNvSpPr/>
          <p:nvPr/>
        </p:nvSpPr>
        <p:spPr>
          <a:xfrm>
            <a:off x="8138160" y="3813048"/>
            <a:ext cx="3611880" cy="1965960"/>
          </a:xfrm>
          <a:prstGeom prst="roundRect">
            <a:avLst>
              <a:gd name="adj" fmla="val 4186"/>
            </a:avLst>
          </a:prstGeom>
          <a:solidFill>
            <a:srgbClr val="FAF8FF"/>
          </a:solidFill>
          <a:ln w="12700">
            <a:solidFill>
              <a:srgbClr val="E4DBFF"/>
            </a:solidFill>
            <a:prstDash val="solid"/>
          </a:ln>
        </p:spPr>
        <p:txBody>
          <a:bodyPr/>
          <a:lstStyle/>
          <a:p>
            <a:endParaRPr lang="en-IN"/>
          </a:p>
        </p:txBody>
      </p:sp>
      <p:sp>
        <p:nvSpPr>
          <p:cNvPr id="31" name="Shape 23"/>
          <p:cNvSpPr/>
          <p:nvPr/>
        </p:nvSpPr>
        <p:spPr>
          <a:xfrm>
            <a:off x="8394192" y="4069080"/>
            <a:ext cx="566928" cy="566928"/>
          </a:xfrm>
          <a:prstGeom prst="ellipse">
            <a:avLst/>
          </a:prstGeom>
          <a:solidFill>
            <a:srgbClr val="8874C0"/>
          </a:solidFill>
          <a:ln/>
        </p:spPr>
        <p:txBody>
          <a:bodyPr/>
          <a:lstStyle/>
          <a:p>
            <a:endParaRPr lang="en-IN"/>
          </a:p>
        </p:txBody>
      </p:sp>
      <p:pic>
        <p:nvPicPr>
          <p:cNvPr id="32" name="Image 6" descr="/home/claude/assets/file_excel.png"/>
          <p:cNvPicPr>
            <a:picLocks noChangeAspect="1"/>
          </p:cNvPicPr>
          <p:nvPr/>
        </p:nvPicPr>
        <p:blipFill>
          <a:blip r:embed="rId9"/>
          <a:stretch>
            <a:fillRect/>
          </a:stretch>
        </p:blipFill>
        <p:spPr>
          <a:xfrm>
            <a:off x="8518916" y="4193804"/>
            <a:ext cx="317480" cy="317480"/>
          </a:xfrm>
          <a:prstGeom prst="rect">
            <a:avLst/>
          </a:prstGeom>
        </p:spPr>
      </p:pic>
      <p:sp>
        <p:nvSpPr>
          <p:cNvPr id="33" name="Text 24"/>
          <p:cNvSpPr/>
          <p:nvPr/>
        </p:nvSpPr>
        <p:spPr>
          <a:xfrm>
            <a:off x="8394192" y="4745736"/>
            <a:ext cx="3108960" cy="365760"/>
          </a:xfrm>
          <a:prstGeom prst="rect">
            <a:avLst/>
          </a:prstGeom>
          <a:noFill/>
          <a:ln/>
        </p:spPr>
        <p:txBody>
          <a:bodyPr wrap="square" lIns="0" tIns="0" rIns="0" bIns="0" rtlCol="0" anchor="ctr"/>
          <a:lstStyle/>
          <a:p>
            <a:pPr marL="0" indent="0">
              <a:buNone/>
            </a:pPr>
            <a:r>
              <a:rPr lang="en-US" sz="1450" b="1" dirty="0">
                <a:solidFill>
                  <a:srgbClr val="4A3F6B"/>
                </a:solidFill>
                <a:latin typeface="Cambria" pitchFamily="34" charset="0"/>
                <a:ea typeface="Cambria" pitchFamily="34" charset="-122"/>
                <a:cs typeface="Cambria" pitchFamily="34" charset="-120"/>
              </a:rPr>
              <a:t>Excel Data Source</a:t>
            </a:r>
            <a:endParaRPr lang="en-US" sz="1450" dirty="0"/>
          </a:p>
        </p:txBody>
      </p:sp>
      <p:sp>
        <p:nvSpPr>
          <p:cNvPr id="34" name="Text 25"/>
          <p:cNvSpPr/>
          <p:nvPr/>
        </p:nvSpPr>
        <p:spPr>
          <a:xfrm>
            <a:off x="8394192" y="5111496"/>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8079A0"/>
                </a:solidFill>
                <a:latin typeface="Calibri" pitchFamily="34" charset="0"/>
                <a:ea typeface="Calibri" pitchFamily="34" charset="-122"/>
                <a:cs typeface="Calibri" pitchFamily="34" charset="-120"/>
              </a:rPr>
              <a:t>Raw Olist dataset imported and refreshed from .xlsx files.</a:t>
            </a:r>
            <a:endParaRPr lang="en-US" sz="1050" dirty="0"/>
          </a:p>
        </p:txBody>
      </p:sp>
      <p:sp>
        <p:nvSpPr>
          <p:cNvPr id="35" name="Text 26"/>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8079A0"/>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2"/>
          <a:stretch>
            <a:fillRect/>
          </a:stretch>
        </p:blipFill>
        <p:spPr>
          <a:xfrm>
            <a:off x="10408615" y="347472"/>
            <a:ext cx="1325880" cy="455604"/>
          </a:xfrm>
          <a:prstGeom prst="rect">
            <a:avLst/>
          </a:prstGeom>
        </p:spPr>
      </p:pic>
      <p:sp>
        <p:nvSpPr>
          <p:cNvPr id="3" name="Text 0"/>
          <p:cNvSpPr/>
          <p:nvPr/>
        </p:nvSpPr>
        <p:spPr>
          <a:xfrm>
            <a:off x="548640" y="384048"/>
            <a:ext cx="3657600" cy="292608"/>
          </a:xfrm>
          <a:prstGeom prst="rect">
            <a:avLst/>
          </a:prstGeom>
          <a:noFill/>
          <a:ln/>
        </p:spPr>
        <p:txBody>
          <a:bodyPr wrap="square" lIns="0" tIns="0" rIns="0" bIns="0" rtlCol="0" anchor="ctr"/>
          <a:lstStyle/>
          <a:p>
            <a:pPr marL="0" indent="0">
              <a:buNone/>
            </a:pPr>
            <a:r>
              <a:rPr lang="en-US" sz="1200" b="1" kern="0" spc="300" dirty="0">
                <a:solidFill>
                  <a:srgbClr val="8874C0"/>
                </a:solidFill>
                <a:latin typeface="Calibri" pitchFamily="34" charset="0"/>
                <a:ea typeface="Calibri" pitchFamily="34" charset="-122"/>
                <a:cs typeface="Calibri" pitchFamily="34" charset="-120"/>
              </a:rPr>
              <a:t>STEP 05</a:t>
            </a:r>
            <a:endParaRPr lang="en-US" sz="1200" dirty="0"/>
          </a:p>
        </p:txBody>
      </p:sp>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4A3F6B"/>
                </a:solidFill>
                <a:latin typeface="Cambria" pitchFamily="34" charset="0"/>
                <a:ea typeface="Cambria" pitchFamily="34" charset="-122"/>
                <a:cs typeface="Cambria" pitchFamily="34" charset="-120"/>
              </a:rPr>
              <a:t>Customer Analysis</a:t>
            </a:r>
            <a:endParaRPr lang="en-US" sz="3200" dirty="0"/>
          </a:p>
        </p:txBody>
      </p:sp>
      <p:sp>
        <p:nvSpPr>
          <p:cNvPr id="5" name="Shape 2"/>
          <p:cNvSpPr/>
          <p:nvPr/>
        </p:nvSpPr>
        <p:spPr>
          <a:xfrm>
            <a:off x="548640" y="1691640"/>
            <a:ext cx="457200" cy="457200"/>
          </a:xfrm>
          <a:prstGeom prst="ellipse">
            <a:avLst/>
          </a:prstGeom>
          <a:solidFill>
            <a:srgbClr val="8874C0"/>
          </a:solidFill>
          <a:ln/>
        </p:spPr>
        <p:txBody>
          <a:bodyPr/>
          <a:lstStyle/>
          <a:p>
            <a:endParaRPr lang="en-IN"/>
          </a:p>
        </p:txBody>
      </p:sp>
      <p:pic>
        <p:nvPicPr>
          <p:cNvPr id="6" name="Image 1" descr="/home/claude/assets/chart_pie.png"/>
          <p:cNvPicPr>
            <a:picLocks noChangeAspect="1"/>
          </p:cNvPicPr>
          <p:nvPr/>
        </p:nvPicPr>
        <p:blipFill>
          <a:blip r:embed="rId3"/>
          <a:stretch>
            <a:fillRect/>
          </a:stretch>
        </p:blipFill>
        <p:spPr>
          <a:xfrm>
            <a:off x="649224" y="1792224"/>
            <a:ext cx="256032" cy="256032"/>
          </a:xfrm>
          <a:prstGeom prst="rect">
            <a:avLst/>
          </a:prstGeom>
        </p:spPr>
      </p:pic>
      <p:sp>
        <p:nvSpPr>
          <p:cNvPr id="7" name="Text 3"/>
          <p:cNvSpPr/>
          <p:nvPr/>
        </p:nvSpPr>
        <p:spPr>
          <a:xfrm>
            <a:off x="1170432" y="167335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69 new customers acquired this period, growing the active base</a:t>
            </a:r>
            <a:endParaRPr lang="en-US" sz="1250" dirty="0"/>
          </a:p>
        </p:txBody>
      </p:sp>
      <p:sp>
        <p:nvSpPr>
          <p:cNvPr id="8" name="Shape 4"/>
          <p:cNvSpPr/>
          <p:nvPr/>
        </p:nvSpPr>
        <p:spPr>
          <a:xfrm>
            <a:off x="548640" y="2295144"/>
            <a:ext cx="457200" cy="457200"/>
          </a:xfrm>
          <a:prstGeom prst="ellipse">
            <a:avLst/>
          </a:prstGeom>
          <a:solidFill>
            <a:srgbClr val="8874C0"/>
          </a:solidFill>
          <a:ln/>
        </p:spPr>
        <p:txBody>
          <a:bodyPr/>
          <a:lstStyle/>
          <a:p>
            <a:endParaRPr lang="en-IN"/>
          </a:p>
        </p:txBody>
      </p:sp>
      <p:pic>
        <p:nvPicPr>
          <p:cNvPr id="9" name="Image 2" descr="/home/claude/assets/map.png"/>
          <p:cNvPicPr>
            <a:picLocks noChangeAspect="1"/>
          </p:cNvPicPr>
          <p:nvPr/>
        </p:nvPicPr>
        <p:blipFill>
          <a:blip r:embed="rId4"/>
          <a:stretch>
            <a:fillRect/>
          </a:stretch>
        </p:blipFill>
        <p:spPr>
          <a:xfrm>
            <a:off x="649224" y="2395728"/>
            <a:ext cx="256032" cy="256032"/>
          </a:xfrm>
          <a:prstGeom prst="rect">
            <a:avLst/>
          </a:prstGeom>
        </p:spPr>
      </p:pic>
      <p:sp>
        <p:nvSpPr>
          <p:cNvPr id="10" name="Text 5"/>
          <p:cNvSpPr/>
          <p:nvPr/>
        </p:nvSpPr>
        <p:spPr>
          <a:xfrm>
            <a:off x="1170432" y="2276856"/>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3.66 / 5 average review score across delivered orders</a:t>
            </a:r>
            <a:endParaRPr lang="en-US" sz="1250" dirty="0"/>
          </a:p>
        </p:txBody>
      </p:sp>
      <p:sp>
        <p:nvSpPr>
          <p:cNvPr id="11" name="Shape 6"/>
          <p:cNvSpPr/>
          <p:nvPr/>
        </p:nvSpPr>
        <p:spPr>
          <a:xfrm>
            <a:off x="548640" y="2898648"/>
            <a:ext cx="457200" cy="457200"/>
          </a:xfrm>
          <a:prstGeom prst="ellipse">
            <a:avLst/>
          </a:prstGeom>
          <a:solidFill>
            <a:srgbClr val="8874C0"/>
          </a:solidFill>
          <a:ln/>
        </p:spPr>
        <p:txBody>
          <a:bodyPr/>
          <a:lstStyle/>
          <a:p>
            <a:endParaRPr lang="en-IN"/>
          </a:p>
        </p:txBody>
      </p:sp>
      <p:pic>
        <p:nvPicPr>
          <p:cNvPr id="12" name="Image 3" descr="/home/claude/assets/chart.png"/>
          <p:cNvPicPr>
            <a:picLocks noChangeAspect="1"/>
          </p:cNvPicPr>
          <p:nvPr/>
        </p:nvPicPr>
        <p:blipFill>
          <a:blip r:embed="rId5"/>
          <a:stretch>
            <a:fillRect/>
          </a:stretch>
        </p:blipFill>
        <p:spPr>
          <a:xfrm>
            <a:off x="649224" y="2999232"/>
            <a:ext cx="256032" cy="256032"/>
          </a:xfrm>
          <a:prstGeom prst="rect">
            <a:avLst/>
          </a:prstGeom>
        </p:spPr>
      </p:pic>
      <p:sp>
        <p:nvSpPr>
          <p:cNvPr id="13" name="Text 7"/>
          <p:cNvSpPr/>
          <p:nvPr/>
        </p:nvSpPr>
        <p:spPr>
          <a:xfrm>
            <a:off x="1170432" y="2880360"/>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Top 10 VIP customers contribute 21% of total revenue</a:t>
            </a:r>
            <a:endParaRPr lang="en-US" sz="1250" dirty="0"/>
          </a:p>
        </p:txBody>
      </p:sp>
      <p:sp>
        <p:nvSpPr>
          <p:cNvPr id="14" name="Shape 8"/>
          <p:cNvSpPr/>
          <p:nvPr/>
        </p:nvSpPr>
        <p:spPr>
          <a:xfrm>
            <a:off x="548640" y="3502152"/>
            <a:ext cx="457200" cy="457200"/>
          </a:xfrm>
          <a:prstGeom prst="ellipse">
            <a:avLst/>
          </a:prstGeom>
          <a:solidFill>
            <a:srgbClr val="8874C0"/>
          </a:solidFill>
          <a:ln/>
        </p:spPr>
        <p:txBody>
          <a:bodyPr/>
          <a:lstStyle/>
          <a:p>
            <a:endParaRPr lang="en-IN"/>
          </a:p>
        </p:txBody>
      </p:sp>
      <p:pic>
        <p:nvPicPr>
          <p:cNvPr id="15" name="Image 4" descr="/home/claude/assets/star.png"/>
          <p:cNvPicPr>
            <a:picLocks noChangeAspect="1"/>
          </p:cNvPicPr>
          <p:nvPr/>
        </p:nvPicPr>
        <p:blipFill>
          <a:blip r:embed="rId6"/>
          <a:stretch>
            <a:fillRect/>
          </a:stretch>
        </p:blipFill>
        <p:spPr>
          <a:xfrm>
            <a:off x="649224" y="3602736"/>
            <a:ext cx="256032" cy="256032"/>
          </a:xfrm>
          <a:prstGeom prst="rect">
            <a:avLst/>
          </a:prstGeom>
        </p:spPr>
      </p:pic>
      <p:sp>
        <p:nvSpPr>
          <p:cNvPr id="16" name="Text 9"/>
          <p:cNvSpPr/>
          <p:nvPr/>
        </p:nvSpPr>
        <p:spPr>
          <a:xfrm>
            <a:off x="1170432" y="3483864"/>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Customer Rank by Revenue highlights high-value repeat buyers</a:t>
            </a:r>
            <a:endParaRPr lang="en-US" sz="1250" dirty="0"/>
          </a:p>
        </p:txBody>
      </p:sp>
      <p:sp>
        <p:nvSpPr>
          <p:cNvPr id="17" name="Shape 10"/>
          <p:cNvSpPr/>
          <p:nvPr/>
        </p:nvSpPr>
        <p:spPr>
          <a:xfrm>
            <a:off x="548640" y="4105656"/>
            <a:ext cx="457200" cy="457200"/>
          </a:xfrm>
          <a:prstGeom prst="ellipse">
            <a:avLst/>
          </a:prstGeom>
          <a:solidFill>
            <a:srgbClr val="8874C0"/>
          </a:solidFill>
          <a:ln/>
        </p:spPr>
        <p:txBody>
          <a:bodyPr/>
          <a:lstStyle/>
          <a:p>
            <a:endParaRPr lang="en-IN"/>
          </a:p>
        </p:txBody>
      </p:sp>
      <p:pic>
        <p:nvPicPr>
          <p:cNvPr id="18" name="Image 5" descr="/home/claude/assets/creditcard.png"/>
          <p:cNvPicPr>
            <a:picLocks noChangeAspect="1"/>
          </p:cNvPicPr>
          <p:nvPr/>
        </p:nvPicPr>
        <p:blipFill>
          <a:blip r:embed="rId7"/>
          <a:stretch>
            <a:fillRect/>
          </a:stretch>
        </p:blipFill>
        <p:spPr>
          <a:xfrm>
            <a:off x="649224" y="4206240"/>
            <a:ext cx="256032" cy="256032"/>
          </a:xfrm>
          <a:prstGeom prst="rect">
            <a:avLst/>
          </a:prstGeom>
        </p:spPr>
      </p:pic>
      <p:sp>
        <p:nvSpPr>
          <p:cNvPr id="19" name="Text 11"/>
          <p:cNvSpPr/>
          <p:nvPr/>
        </p:nvSpPr>
        <p:spPr>
          <a:xfrm>
            <a:off x="1170432" y="4087368"/>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Is Top 10 Customer flag pinpoints VIP accounts instantly</a:t>
            </a:r>
            <a:endParaRPr lang="en-US" sz="1250" dirty="0"/>
          </a:p>
        </p:txBody>
      </p:sp>
      <p:sp>
        <p:nvSpPr>
          <p:cNvPr id="20" name="Shape 12"/>
          <p:cNvSpPr/>
          <p:nvPr/>
        </p:nvSpPr>
        <p:spPr>
          <a:xfrm>
            <a:off x="548640" y="4709160"/>
            <a:ext cx="457200" cy="457200"/>
          </a:xfrm>
          <a:prstGeom prst="ellipse">
            <a:avLst/>
          </a:prstGeom>
          <a:solidFill>
            <a:srgbClr val="8874C0"/>
          </a:solidFill>
          <a:ln/>
        </p:spPr>
        <p:txBody>
          <a:bodyPr/>
          <a:lstStyle/>
          <a:p>
            <a:endParaRPr lang="en-IN"/>
          </a:p>
        </p:txBody>
      </p:sp>
      <p:pic>
        <p:nvPicPr>
          <p:cNvPr id="21" name="Image 6" descr="/home/claude/assets/filter.png"/>
          <p:cNvPicPr>
            <a:picLocks noChangeAspect="1"/>
          </p:cNvPicPr>
          <p:nvPr/>
        </p:nvPicPr>
        <p:blipFill>
          <a:blip r:embed="rId8"/>
          <a:stretch>
            <a:fillRect/>
          </a:stretch>
        </p:blipFill>
        <p:spPr>
          <a:xfrm>
            <a:off x="649224" y="4809744"/>
            <a:ext cx="256032" cy="256032"/>
          </a:xfrm>
          <a:prstGeom prst="rect">
            <a:avLst/>
          </a:prstGeom>
        </p:spPr>
      </p:pic>
      <p:sp>
        <p:nvSpPr>
          <p:cNvPr id="22" name="Text 13"/>
          <p:cNvSpPr/>
          <p:nvPr/>
        </p:nvSpPr>
        <p:spPr>
          <a:xfrm>
            <a:off x="1170432" y="469087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Segment &amp; state slicers isolate any customer group in one click</a:t>
            </a:r>
            <a:endParaRPr lang="en-US" sz="1250" dirty="0"/>
          </a:p>
        </p:txBody>
      </p:sp>
      <p:sp>
        <p:nvSpPr>
          <p:cNvPr id="23" name="Shape 14"/>
          <p:cNvSpPr/>
          <p:nvPr/>
        </p:nvSpPr>
        <p:spPr>
          <a:xfrm>
            <a:off x="5806440" y="1645920"/>
            <a:ext cx="5852160" cy="4480560"/>
          </a:xfrm>
          <a:prstGeom prst="roundRect">
            <a:avLst>
              <a:gd name="adj" fmla="val 1224"/>
            </a:avLst>
          </a:prstGeom>
          <a:solidFill>
            <a:srgbClr val="FFFFFF"/>
          </a:solidFill>
          <a:ln w="19050">
            <a:solidFill>
              <a:srgbClr val="E4DBFF"/>
            </a:solidFill>
            <a:prstDash val="solid"/>
          </a:ln>
          <a:effectLst>
            <a:outerShdw blurRad="127000" dist="38100" dir="5400000" algn="bl" rotWithShape="0">
              <a:srgbClr val="000000">
                <a:alpha val="18000"/>
              </a:srgbClr>
            </a:outerShdw>
          </a:effectLst>
        </p:spPr>
        <p:txBody>
          <a:bodyPr/>
          <a:lstStyle/>
          <a:p>
            <a:endParaRPr lang="en-IN"/>
          </a:p>
        </p:txBody>
      </p:sp>
      <p:pic>
        <p:nvPicPr>
          <p:cNvPr id="24" name="Image 7" descr="/mnt/user-data/uploads/E-commerce_Customer_Analytics_PowerBI_dashboard.png"/>
          <p:cNvPicPr>
            <a:picLocks noChangeAspect="1"/>
          </p:cNvPicPr>
          <p:nvPr/>
        </p:nvPicPr>
        <p:blipFill>
          <a:blip r:embed="rId9"/>
          <a:stretch>
            <a:fillRect/>
          </a:stretch>
        </p:blipFill>
        <p:spPr>
          <a:xfrm>
            <a:off x="7109612" y="1783080"/>
            <a:ext cx="3245815" cy="4206240"/>
          </a:xfrm>
          <a:prstGeom prst="rect">
            <a:avLst/>
          </a:prstGeom>
        </p:spPr>
      </p:pic>
      <p:sp>
        <p:nvSpPr>
          <p:cNvPr id="25" name="Text 15"/>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8079A0"/>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2"/>
          <a:stretch>
            <a:fillRect/>
          </a:stretch>
        </p:blipFill>
        <p:spPr>
          <a:xfrm>
            <a:off x="10408615" y="347472"/>
            <a:ext cx="1325880" cy="455604"/>
          </a:xfrm>
          <a:prstGeom prst="rect">
            <a:avLst/>
          </a:prstGeom>
        </p:spPr>
      </p:pic>
      <p:sp>
        <p:nvSpPr>
          <p:cNvPr id="3" name="Text 0"/>
          <p:cNvSpPr/>
          <p:nvPr/>
        </p:nvSpPr>
        <p:spPr>
          <a:xfrm>
            <a:off x="548640" y="384048"/>
            <a:ext cx="3657600" cy="292608"/>
          </a:xfrm>
          <a:prstGeom prst="rect">
            <a:avLst/>
          </a:prstGeom>
          <a:noFill/>
          <a:ln/>
        </p:spPr>
        <p:txBody>
          <a:bodyPr wrap="square" lIns="0" tIns="0" rIns="0" bIns="0" rtlCol="0" anchor="ctr"/>
          <a:lstStyle/>
          <a:p>
            <a:pPr marL="0" indent="0">
              <a:buNone/>
            </a:pPr>
            <a:r>
              <a:rPr lang="en-US" sz="1200" b="1" kern="0" spc="300" dirty="0">
                <a:solidFill>
                  <a:srgbClr val="8874C0"/>
                </a:solidFill>
                <a:latin typeface="Calibri" pitchFamily="34" charset="0"/>
                <a:ea typeface="Calibri" pitchFamily="34" charset="-122"/>
                <a:cs typeface="Calibri" pitchFamily="34" charset="-120"/>
              </a:rPr>
              <a:t>STEP 06</a:t>
            </a:r>
            <a:endParaRPr lang="en-US" sz="1200" dirty="0"/>
          </a:p>
        </p:txBody>
      </p:sp>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4A3F6B"/>
                </a:solidFill>
                <a:latin typeface="Cambria" pitchFamily="34" charset="0"/>
                <a:ea typeface="Cambria" pitchFamily="34" charset="-122"/>
                <a:cs typeface="Cambria" pitchFamily="34" charset="-120"/>
              </a:rPr>
              <a:t>Sales Analysis</a:t>
            </a:r>
            <a:endParaRPr lang="en-US" sz="3200" dirty="0"/>
          </a:p>
        </p:txBody>
      </p:sp>
      <p:sp>
        <p:nvSpPr>
          <p:cNvPr id="5" name="Shape 2"/>
          <p:cNvSpPr/>
          <p:nvPr/>
        </p:nvSpPr>
        <p:spPr>
          <a:xfrm>
            <a:off x="548640" y="1691640"/>
            <a:ext cx="457200" cy="457200"/>
          </a:xfrm>
          <a:prstGeom prst="ellipse">
            <a:avLst/>
          </a:prstGeom>
          <a:solidFill>
            <a:srgbClr val="8874C0"/>
          </a:solidFill>
          <a:ln/>
        </p:spPr>
        <p:txBody>
          <a:bodyPr/>
          <a:lstStyle/>
          <a:p>
            <a:endParaRPr lang="en-IN"/>
          </a:p>
        </p:txBody>
      </p:sp>
      <p:pic>
        <p:nvPicPr>
          <p:cNvPr id="6" name="Image 1" descr="/home/claude/assets/chart_pie.png"/>
          <p:cNvPicPr>
            <a:picLocks noChangeAspect="1"/>
          </p:cNvPicPr>
          <p:nvPr/>
        </p:nvPicPr>
        <p:blipFill>
          <a:blip r:embed="rId3"/>
          <a:stretch>
            <a:fillRect/>
          </a:stretch>
        </p:blipFill>
        <p:spPr>
          <a:xfrm>
            <a:off x="649224" y="1792224"/>
            <a:ext cx="256032" cy="256032"/>
          </a:xfrm>
          <a:prstGeom prst="rect">
            <a:avLst/>
          </a:prstGeom>
        </p:spPr>
      </p:pic>
      <p:sp>
        <p:nvSpPr>
          <p:cNvPr id="7" name="Text 3"/>
          <p:cNvSpPr/>
          <p:nvPr/>
        </p:nvSpPr>
        <p:spPr>
          <a:xfrm>
            <a:off x="1170432" y="167335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132.10K total revenue generated across 501 orders</a:t>
            </a:r>
            <a:endParaRPr lang="en-US" sz="1250" dirty="0"/>
          </a:p>
        </p:txBody>
      </p:sp>
      <p:sp>
        <p:nvSpPr>
          <p:cNvPr id="8" name="Shape 4"/>
          <p:cNvSpPr/>
          <p:nvPr/>
        </p:nvSpPr>
        <p:spPr>
          <a:xfrm>
            <a:off x="548640" y="2295144"/>
            <a:ext cx="457200" cy="457200"/>
          </a:xfrm>
          <a:prstGeom prst="ellipse">
            <a:avLst/>
          </a:prstGeom>
          <a:solidFill>
            <a:srgbClr val="8874C0"/>
          </a:solidFill>
          <a:ln/>
        </p:spPr>
        <p:txBody>
          <a:bodyPr/>
          <a:lstStyle/>
          <a:p>
            <a:endParaRPr lang="en-IN"/>
          </a:p>
        </p:txBody>
      </p:sp>
      <p:pic>
        <p:nvPicPr>
          <p:cNvPr id="9" name="Image 2" descr="/home/claude/assets/map.png"/>
          <p:cNvPicPr>
            <a:picLocks noChangeAspect="1"/>
          </p:cNvPicPr>
          <p:nvPr/>
        </p:nvPicPr>
        <p:blipFill>
          <a:blip r:embed="rId4"/>
          <a:stretch>
            <a:fillRect/>
          </a:stretch>
        </p:blipFill>
        <p:spPr>
          <a:xfrm>
            <a:off x="649224" y="2395728"/>
            <a:ext cx="256032" cy="256032"/>
          </a:xfrm>
          <a:prstGeom prst="rect">
            <a:avLst/>
          </a:prstGeom>
        </p:spPr>
      </p:pic>
      <p:sp>
        <p:nvSpPr>
          <p:cNvPr id="10" name="Text 5"/>
          <p:cNvSpPr/>
          <p:nvPr/>
        </p:nvSpPr>
        <p:spPr>
          <a:xfrm>
            <a:off x="1170432" y="2276856"/>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263.67 average order value (AOV) per transaction</a:t>
            </a:r>
            <a:endParaRPr lang="en-US" sz="1250" dirty="0"/>
          </a:p>
        </p:txBody>
      </p:sp>
      <p:sp>
        <p:nvSpPr>
          <p:cNvPr id="11" name="Shape 6"/>
          <p:cNvSpPr/>
          <p:nvPr/>
        </p:nvSpPr>
        <p:spPr>
          <a:xfrm>
            <a:off x="548640" y="2898648"/>
            <a:ext cx="457200" cy="457200"/>
          </a:xfrm>
          <a:prstGeom prst="ellipse">
            <a:avLst/>
          </a:prstGeom>
          <a:solidFill>
            <a:srgbClr val="8874C0"/>
          </a:solidFill>
          <a:ln/>
        </p:spPr>
        <p:txBody>
          <a:bodyPr/>
          <a:lstStyle/>
          <a:p>
            <a:endParaRPr lang="en-IN"/>
          </a:p>
        </p:txBody>
      </p:sp>
      <p:pic>
        <p:nvPicPr>
          <p:cNvPr id="12" name="Image 3" descr="/home/claude/assets/chart.png"/>
          <p:cNvPicPr>
            <a:picLocks noChangeAspect="1"/>
          </p:cNvPicPr>
          <p:nvPr/>
        </p:nvPicPr>
        <p:blipFill>
          <a:blip r:embed="rId5"/>
          <a:stretch>
            <a:fillRect/>
          </a:stretch>
        </p:blipFill>
        <p:spPr>
          <a:xfrm>
            <a:off x="649224" y="2999232"/>
            <a:ext cx="256032" cy="256032"/>
          </a:xfrm>
          <a:prstGeom prst="rect">
            <a:avLst/>
          </a:prstGeom>
        </p:spPr>
      </p:pic>
      <p:sp>
        <p:nvSpPr>
          <p:cNvPr id="13" name="Text 7"/>
          <p:cNvSpPr/>
          <p:nvPr/>
        </p:nvSpPr>
        <p:spPr>
          <a:xfrm>
            <a:off x="1170432" y="2880360"/>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Electronics leads all categories with 32.4K in revenue</a:t>
            </a:r>
            <a:endParaRPr lang="en-US" sz="1250" dirty="0"/>
          </a:p>
        </p:txBody>
      </p:sp>
      <p:sp>
        <p:nvSpPr>
          <p:cNvPr id="14" name="Shape 8"/>
          <p:cNvSpPr/>
          <p:nvPr/>
        </p:nvSpPr>
        <p:spPr>
          <a:xfrm>
            <a:off x="548640" y="3502152"/>
            <a:ext cx="457200" cy="457200"/>
          </a:xfrm>
          <a:prstGeom prst="ellipse">
            <a:avLst/>
          </a:prstGeom>
          <a:solidFill>
            <a:srgbClr val="8874C0"/>
          </a:solidFill>
          <a:ln/>
        </p:spPr>
        <p:txBody>
          <a:bodyPr/>
          <a:lstStyle/>
          <a:p>
            <a:endParaRPr lang="en-IN"/>
          </a:p>
        </p:txBody>
      </p:sp>
      <p:pic>
        <p:nvPicPr>
          <p:cNvPr id="15" name="Image 4" descr="/home/claude/assets/star.png"/>
          <p:cNvPicPr>
            <a:picLocks noChangeAspect="1"/>
          </p:cNvPicPr>
          <p:nvPr/>
        </p:nvPicPr>
        <p:blipFill>
          <a:blip r:embed="rId6"/>
          <a:stretch>
            <a:fillRect/>
          </a:stretch>
        </p:blipFill>
        <p:spPr>
          <a:xfrm>
            <a:off x="649224" y="3602736"/>
            <a:ext cx="256032" cy="256032"/>
          </a:xfrm>
          <a:prstGeom prst="rect">
            <a:avLst/>
          </a:prstGeom>
        </p:spPr>
      </p:pic>
      <p:sp>
        <p:nvSpPr>
          <p:cNvPr id="16" name="Text 9"/>
          <p:cNvSpPr/>
          <p:nvPr/>
        </p:nvSpPr>
        <p:spPr>
          <a:xfrm>
            <a:off x="1170432" y="3483864"/>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8.45K total discount given against 123.65K net revenue</a:t>
            </a:r>
            <a:endParaRPr lang="en-US" sz="1250" dirty="0"/>
          </a:p>
        </p:txBody>
      </p:sp>
      <p:sp>
        <p:nvSpPr>
          <p:cNvPr id="17" name="Shape 10"/>
          <p:cNvSpPr/>
          <p:nvPr/>
        </p:nvSpPr>
        <p:spPr>
          <a:xfrm>
            <a:off x="548640" y="4105656"/>
            <a:ext cx="457200" cy="457200"/>
          </a:xfrm>
          <a:prstGeom prst="ellipse">
            <a:avLst/>
          </a:prstGeom>
          <a:solidFill>
            <a:srgbClr val="8874C0"/>
          </a:solidFill>
          <a:ln/>
        </p:spPr>
        <p:txBody>
          <a:bodyPr/>
          <a:lstStyle/>
          <a:p>
            <a:endParaRPr lang="en-IN"/>
          </a:p>
        </p:txBody>
      </p:sp>
      <p:pic>
        <p:nvPicPr>
          <p:cNvPr id="18" name="Image 5" descr="/home/claude/assets/creditcard.png"/>
          <p:cNvPicPr>
            <a:picLocks noChangeAspect="1"/>
          </p:cNvPicPr>
          <p:nvPr/>
        </p:nvPicPr>
        <p:blipFill>
          <a:blip r:embed="rId7"/>
          <a:stretch>
            <a:fillRect/>
          </a:stretch>
        </p:blipFill>
        <p:spPr>
          <a:xfrm>
            <a:off x="649224" y="4206240"/>
            <a:ext cx="256032" cy="256032"/>
          </a:xfrm>
          <a:prstGeom prst="rect">
            <a:avLst/>
          </a:prstGeom>
        </p:spPr>
      </p:pic>
      <p:sp>
        <p:nvSpPr>
          <p:cNvPr id="19" name="Text 11"/>
          <p:cNvSpPr/>
          <p:nvPr/>
        </p:nvSpPr>
        <p:spPr>
          <a:xfrm>
            <a:off x="1170432" y="4087368"/>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Monthly trend view tracks revenue momentum order by order</a:t>
            </a:r>
            <a:endParaRPr lang="en-US" sz="1250" dirty="0"/>
          </a:p>
        </p:txBody>
      </p:sp>
      <p:sp>
        <p:nvSpPr>
          <p:cNvPr id="20" name="Shape 12"/>
          <p:cNvSpPr/>
          <p:nvPr/>
        </p:nvSpPr>
        <p:spPr>
          <a:xfrm>
            <a:off x="548640" y="4709160"/>
            <a:ext cx="457200" cy="457200"/>
          </a:xfrm>
          <a:prstGeom prst="ellipse">
            <a:avLst/>
          </a:prstGeom>
          <a:solidFill>
            <a:srgbClr val="8874C0"/>
          </a:solidFill>
          <a:ln/>
        </p:spPr>
        <p:txBody>
          <a:bodyPr/>
          <a:lstStyle/>
          <a:p>
            <a:endParaRPr lang="en-IN"/>
          </a:p>
        </p:txBody>
      </p:sp>
      <p:pic>
        <p:nvPicPr>
          <p:cNvPr id="21" name="Image 6" descr="/home/claude/assets/filter.png"/>
          <p:cNvPicPr>
            <a:picLocks noChangeAspect="1"/>
          </p:cNvPicPr>
          <p:nvPr/>
        </p:nvPicPr>
        <p:blipFill>
          <a:blip r:embed="rId8"/>
          <a:stretch>
            <a:fillRect/>
          </a:stretch>
        </p:blipFill>
        <p:spPr>
          <a:xfrm>
            <a:off x="649224" y="4809744"/>
            <a:ext cx="256032" cy="256032"/>
          </a:xfrm>
          <a:prstGeom prst="rect">
            <a:avLst/>
          </a:prstGeom>
        </p:spPr>
      </p:pic>
      <p:sp>
        <p:nvSpPr>
          <p:cNvPr id="22" name="Text 13"/>
          <p:cNvSpPr/>
          <p:nvPr/>
        </p:nvSpPr>
        <p:spPr>
          <a:xfrm>
            <a:off x="1170432" y="469087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Total Quantity sold reveals demand beyond order count alone</a:t>
            </a:r>
            <a:endParaRPr lang="en-US" sz="1250" dirty="0"/>
          </a:p>
        </p:txBody>
      </p:sp>
      <p:sp>
        <p:nvSpPr>
          <p:cNvPr id="23" name="Shape 14"/>
          <p:cNvSpPr/>
          <p:nvPr/>
        </p:nvSpPr>
        <p:spPr>
          <a:xfrm>
            <a:off x="5806440" y="1645920"/>
            <a:ext cx="5852160" cy="4480560"/>
          </a:xfrm>
          <a:prstGeom prst="roundRect">
            <a:avLst>
              <a:gd name="adj" fmla="val 1224"/>
            </a:avLst>
          </a:prstGeom>
          <a:solidFill>
            <a:srgbClr val="FFFFFF"/>
          </a:solidFill>
          <a:ln w="19050">
            <a:solidFill>
              <a:srgbClr val="E4DBFF"/>
            </a:solidFill>
            <a:prstDash val="solid"/>
          </a:ln>
          <a:effectLst>
            <a:outerShdw blurRad="127000" dist="38100" dir="5400000" algn="bl" rotWithShape="0">
              <a:srgbClr val="000000">
                <a:alpha val="18000"/>
              </a:srgbClr>
            </a:outerShdw>
          </a:effectLst>
        </p:spPr>
        <p:txBody>
          <a:bodyPr/>
          <a:lstStyle/>
          <a:p>
            <a:endParaRPr lang="en-IN"/>
          </a:p>
        </p:txBody>
      </p:sp>
      <p:pic>
        <p:nvPicPr>
          <p:cNvPr id="24" name="Image 7" descr="/mnt/user-data/uploads/E-commerce_Customer_Analytics_PowerBI_dashboard.png"/>
          <p:cNvPicPr>
            <a:picLocks noChangeAspect="1"/>
          </p:cNvPicPr>
          <p:nvPr/>
        </p:nvPicPr>
        <p:blipFill>
          <a:blip r:embed="rId9"/>
          <a:stretch>
            <a:fillRect/>
          </a:stretch>
        </p:blipFill>
        <p:spPr>
          <a:xfrm>
            <a:off x="5943600" y="1894114"/>
            <a:ext cx="5577840" cy="3984171"/>
          </a:xfrm>
          <a:prstGeom prst="rect">
            <a:avLst/>
          </a:prstGeom>
        </p:spPr>
      </p:pic>
      <p:sp>
        <p:nvSpPr>
          <p:cNvPr id="25" name="Text 15"/>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8079A0"/>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2"/>
          <a:stretch>
            <a:fillRect/>
          </a:stretch>
        </p:blipFill>
        <p:spPr>
          <a:xfrm>
            <a:off x="10408615" y="347472"/>
            <a:ext cx="1325880" cy="455604"/>
          </a:xfrm>
          <a:prstGeom prst="rect">
            <a:avLst/>
          </a:prstGeom>
        </p:spPr>
      </p:pic>
      <p:sp>
        <p:nvSpPr>
          <p:cNvPr id="3" name="Text 0"/>
          <p:cNvSpPr/>
          <p:nvPr/>
        </p:nvSpPr>
        <p:spPr>
          <a:xfrm>
            <a:off x="548640" y="384048"/>
            <a:ext cx="3657600" cy="292608"/>
          </a:xfrm>
          <a:prstGeom prst="rect">
            <a:avLst/>
          </a:prstGeom>
          <a:noFill/>
          <a:ln/>
        </p:spPr>
        <p:txBody>
          <a:bodyPr wrap="square" lIns="0" tIns="0" rIns="0" bIns="0" rtlCol="0" anchor="ctr"/>
          <a:lstStyle/>
          <a:p>
            <a:pPr marL="0" indent="0">
              <a:buNone/>
            </a:pPr>
            <a:r>
              <a:rPr lang="en-US" sz="1200" b="1" kern="0" spc="300" dirty="0">
                <a:solidFill>
                  <a:srgbClr val="8874C0"/>
                </a:solidFill>
                <a:latin typeface="Calibri" pitchFamily="34" charset="0"/>
                <a:ea typeface="Calibri" pitchFamily="34" charset="-122"/>
                <a:cs typeface="Calibri" pitchFamily="34" charset="-120"/>
              </a:rPr>
              <a:t>STEP 07</a:t>
            </a:r>
            <a:endParaRPr lang="en-US" sz="1200" dirty="0"/>
          </a:p>
        </p:txBody>
      </p:sp>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4A3F6B"/>
                </a:solidFill>
                <a:latin typeface="Cambria" pitchFamily="34" charset="0"/>
                <a:ea typeface="Cambria" pitchFamily="34" charset="-122"/>
                <a:cs typeface="Cambria" pitchFamily="34" charset="-120"/>
              </a:rPr>
              <a:t>Delivery Analysis</a:t>
            </a:r>
            <a:endParaRPr lang="en-US" sz="3200" dirty="0"/>
          </a:p>
        </p:txBody>
      </p:sp>
      <p:sp>
        <p:nvSpPr>
          <p:cNvPr id="5" name="Shape 2"/>
          <p:cNvSpPr/>
          <p:nvPr/>
        </p:nvSpPr>
        <p:spPr>
          <a:xfrm>
            <a:off x="548640" y="1691640"/>
            <a:ext cx="457200" cy="457200"/>
          </a:xfrm>
          <a:prstGeom prst="ellipse">
            <a:avLst/>
          </a:prstGeom>
          <a:solidFill>
            <a:srgbClr val="8874C0"/>
          </a:solidFill>
          <a:ln/>
        </p:spPr>
        <p:txBody>
          <a:bodyPr/>
          <a:lstStyle/>
          <a:p>
            <a:endParaRPr lang="en-IN"/>
          </a:p>
        </p:txBody>
      </p:sp>
      <p:pic>
        <p:nvPicPr>
          <p:cNvPr id="6" name="Image 1" descr="/home/claude/assets/chart_pie.png"/>
          <p:cNvPicPr>
            <a:picLocks noChangeAspect="1"/>
          </p:cNvPicPr>
          <p:nvPr/>
        </p:nvPicPr>
        <p:blipFill>
          <a:blip r:embed="rId3"/>
          <a:stretch>
            <a:fillRect/>
          </a:stretch>
        </p:blipFill>
        <p:spPr>
          <a:xfrm>
            <a:off x="649224" y="1792224"/>
            <a:ext cx="256032" cy="256032"/>
          </a:xfrm>
          <a:prstGeom prst="rect">
            <a:avLst/>
          </a:prstGeom>
        </p:spPr>
      </p:pic>
      <p:sp>
        <p:nvSpPr>
          <p:cNvPr id="7" name="Text 3"/>
          <p:cNvSpPr/>
          <p:nvPr/>
        </p:nvSpPr>
        <p:spPr>
          <a:xfrm>
            <a:off x="1170432" y="167335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61% of orders delivered on or before the estimated date</a:t>
            </a:r>
            <a:endParaRPr lang="en-US" sz="1250" dirty="0"/>
          </a:p>
        </p:txBody>
      </p:sp>
      <p:sp>
        <p:nvSpPr>
          <p:cNvPr id="8" name="Shape 4"/>
          <p:cNvSpPr/>
          <p:nvPr/>
        </p:nvSpPr>
        <p:spPr>
          <a:xfrm>
            <a:off x="548640" y="2295144"/>
            <a:ext cx="457200" cy="457200"/>
          </a:xfrm>
          <a:prstGeom prst="ellipse">
            <a:avLst/>
          </a:prstGeom>
          <a:solidFill>
            <a:srgbClr val="8874C0"/>
          </a:solidFill>
          <a:ln/>
        </p:spPr>
        <p:txBody>
          <a:bodyPr/>
          <a:lstStyle/>
          <a:p>
            <a:endParaRPr lang="en-IN"/>
          </a:p>
        </p:txBody>
      </p:sp>
      <p:pic>
        <p:nvPicPr>
          <p:cNvPr id="9" name="Image 2" descr="/home/claude/assets/map.png"/>
          <p:cNvPicPr>
            <a:picLocks noChangeAspect="1"/>
          </p:cNvPicPr>
          <p:nvPr/>
        </p:nvPicPr>
        <p:blipFill>
          <a:blip r:embed="rId4"/>
          <a:stretch>
            <a:fillRect/>
          </a:stretch>
        </p:blipFill>
        <p:spPr>
          <a:xfrm>
            <a:off x="649224" y="2395728"/>
            <a:ext cx="256032" cy="256032"/>
          </a:xfrm>
          <a:prstGeom prst="rect">
            <a:avLst/>
          </a:prstGeom>
        </p:spPr>
      </p:pic>
      <p:sp>
        <p:nvSpPr>
          <p:cNvPr id="10" name="Text 5"/>
          <p:cNvSpPr/>
          <p:nvPr/>
        </p:nvSpPr>
        <p:spPr>
          <a:xfrm>
            <a:off x="1170432" y="2276856"/>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39% of deliveries arrive later than the promised date</a:t>
            </a:r>
            <a:endParaRPr lang="en-US" sz="1250" dirty="0"/>
          </a:p>
        </p:txBody>
      </p:sp>
      <p:sp>
        <p:nvSpPr>
          <p:cNvPr id="11" name="Shape 6"/>
          <p:cNvSpPr/>
          <p:nvPr/>
        </p:nvSpPr>
        <p:spPr>
          <a:xfrm>
            <a:off x="548640" y="2898648"/>
            <a:ext cx="457200" cy="457200"/>
          </a:xfrm>
          <a:prstGeom prst="ellipse">
            <a:avLst/>
          </a:prstGeom>
          <a:solidFill>
            <a:srgbClr val="8874C0"/>
          </a:solidFill>
          <a:ln/>
        </p:spPr>
        <p:txBody>
          <a:bodyPr/>
          <a:lstStyle/>
          <a:p>
            <a:endParaRPr lang="en-IN"/>
          </a:p>
        </p:txBody>
      </p:sp>
      <p:pic>
        <p:nvPicPr>
          <p:cNvPr id="12" name="Image 3" descr="/home/claude/assets/chart.png"/>
          <p:cNvPicPr>
            <a:picLocks noChangeAspect="1"/>
          </p:cNvPicPr>
          <p:nvPr/>
        </p:nvPicPr>
        <p:blipFill>
          <a:blip r:embed="rId5"/>
          <a:stretch>
            <a:fillRect/>
          </a:stretch>
        </p:blipFill>
        <p:spPr>
          <a:xfrm>
            <a:off x="649224" y="2999232"/>
            <a:ext cx="256032" cy="256032"/>
          </a:xfrm>
          <a:prstGeom prst="rect">
            <a:avLst/>
          </a:prstGeom>
        </p:spPr>
      </p:pic>
      <p:sp>
        <p:nvSpPr>
          <p:cNvPr id="13" name="Text 7"/>
          <p:cNvSpPr/>
          <p:nvPr/>
        </p:nvSpPr>
        <p:spPr>
          <a:xfrm>
            <a:off x="1170432" y="2880360"/>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4.6% cancelled order rate flags at-risk fulfillment</a:t>
            </a:r>
            <a:endParaRPr lang="en-US" sz="1250" dirty="0"/>
          </a:p>
        </p:txBody>
      </p:sp>
      <p:sp>
        <p:nvSpPr>
          <p:cNvPr id="14" name="Shape 8"/>
          <p:cNvSpPr/>
          <p:nvPr/>
        </p:nvSpPr>
        <p:spPr>
          <a:xfrm>
            <a:off x="548640" y="3502152"/>
            <a:ext cx="457200" cy="457200"/>
          </a:xfrm>
          <a:prstGeom prst="ellipse">
            <a:avLst/>
          </a:prstGeom>
          <a:solidFill>
            <a:srgbClr val="8874C0"/>
          </a:solidFill>
          <a:ln/>
        </p:spPr>
        <p:txBody>
          <a:bodyPr/>
          <a:lstStyle/>
          <a:p>
            <a:endParaRPr lang="en-IN"/>
          </a:p>
        </p:txBody>
      </p:sp>
      <p:pic>
        <p:nvPicPr>
          <p:cNvPr id="15" name="Image 4" descr="/home/claude/assets/star.png"/>
          <p:cNvPicPr>
            <a:picLocks noChangeAspect="1"/>
          </p:cNvPicPr>
          <p:nvPr/>
        </p:nvPicPr>
        <p:blipFill>
          <a:blip r:embed="rId6"/>
          <a:stretch>
            <a:fillRect/>
          </a:stretch>
        </p:blipFill>
        <p:spPr>
          <a:xfrm>
            <a:off x="649224" y="3602736"/>
            <a:ext cx="256032" cy="256032"/>
          </a:xfrm>
          <a:prstGeom prst="rect">
            <a:avLst/>
          </a:prstGeom>
        </p:spPr>
      </p:pic>
      <p:sp>
        <p:nvSpPr>
          <p:cNvPr id="16" name="Text 9"/>
          <p:cNvSpPr/>
          <p:nvPr/>
        </p:nvSpPr>
        <p:spPr>
          <a:xfrm>
            <a:off x="1170432" y="3483864"/>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13.88K in payment value failed or refunded, tracked for recovery</a:t>
            </a:r>
            <a:endParaRPr lang="en-US" sz="1250" dirty="0"/>
          </a:p>
        </p:txBody>
      </p:sp>
      <p:sp>
        <p:nvSpPr>
          <p:cNvPr id="17" name="Shape 10"/>
          <p:cNvSpPr/>
          <p:nvPr/>
        </p:nvSpPr>
        <p:spPr>
          <a:xfrm>
            <a:off x="548640" y="4105656"/>
            <a:ext cx="457200" cy="457200"/>
          </a:xfrm>
          <a:prstGeom prst="ellipse">
            <a:avLst/>
          </a:prstGeom>
          <a:solidFill>
            <a:srgbClr val="8874C0"/>
          </a:solidFill>
          <a:ln/>
        </p:spPr>
        <p:txBody>
          <a:bodyPr/>
          <a:lstStyle/>
          <a:p>
            <a:endParaRPr lang="en-IN"/>
          </a:p>
        </p:txBody>
      </p:sp>
      <p:pic>
        <p:nvPicPr>
          <p:cNvPr id="18" name="Image 5" descr="/home/claude/assets/creditcard.png"/>
          <p:cNvPicPr>
            <a:picLocks noChangeAspect="1"/>
          </p:cNvPicPr>
          <p:nvPr/>
        </p:nvPicPr>
        <p:blipFill>
          <a:blip r:embed="rId7"/>
          <a:stretch>
            <a:fillRect/>
          </a:stretch>
        </p:blipFill>
        <p:spPr>
          <a:xfrm>
            <a:off x="649224" y="4206240"/>
            <a:ext cx="256032" cy="256032"/>
          </a:xfrm>
          <a:prstGeom prst="rect">
            <a:avLst/>
          </a:prstGeom>
        </p:spPr>
      </p:pic>
      <p:sp>
        <p:nvSpPr>
          <p:cNvPr id="19" name="Text 11"/>
          <p:cNvSpPr/>
          <p:nvPr/>
        </p:nvSpPr>
        <p:spPr>
          <a:xfrm>
            <a:off x="1170432" y="4087368"/>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Avg Review Score sits at 3.66 / 5, dipping whenever delivery runs late</a:t>
            </a:r>
            <a:endParaRPr lang="en-US" sz="1250" dirty="0"/>
          </a:p>
        </p:txBody>
      </p:sp>
      <p:sp>
        <p:nvSpPr>
          <p:cNvPr id="20" name="Shape 12"/>
          <p:cNvSpPr/>
          <p:nvPr/>
        </p:nvSpPr>
        <p:spPr>
          <a:xfrm>
            <a:off x="548640" y="4709160"/>
            <a:ext cx="457200" cy="457200"/>
          </a:xfrm>
          <a:prstGeom prst="ellipse">
            <a:avLst/>
          </a:prstGeom>
          <a:solidFill>
            <a:srgbClr val="8874C0"/>
          </a:solidFill>
          <a:ln/>
        </p:spPr>
        <p:txBody>
          <a:bodyPr/>
          <a:lstStyle/>
          <a:p>
            <a:endParaRPr lang="en-IN"/>
          </a:p>
        </p:txBody>
      </p:sp>
      <p:pic>
        <p:nvPicPr>
          <p:cNvPr id="21" name="Image 6" descr="/home/claude/assets/filter.png"/>
          <p:cNvPicPr>
            <a:picLocks noChangeAspect="1"/>
          </p:cNvPicPr>
          <p:nvPr/>
        </p:nvPicPr>
        <p:blipFill>
          <a:blip r:embed="rId8"/>
          <a:stretch>
            <a:fillRect/>
          </a:stretch>
        </p:blipFill>
        <p:spPr>
          <a:xfrm>
            <a:off x="649224" y="4809744"/>
            <a:ext cx="256032" cy="256032"/>
          </a:xfrm>
          <a:prstGeom prst="rect">
            <a:avLst/>
          </a:prstGeom>
        </p:spPr>
      </p:pic>
      <p:sp>
        <p:nvSpPr>
          <p:cNvPr id="22" name="Text 13"/>
          <p:cNvSpPr/>
          <p:nvPr/>
        </p:nvSpPr>
        <p:spPr>
          <a:xfrm>
            <a:off x="1170432" y="469087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Status &amp; state slicers isolate delivery issues by region instantly</a:t>
            </a:r>
            <a:endParaRPr lang="en-US" sz="1250" dirty="0"/>
          </a:p>
        </p:txBody>
      </p:sp>
      <p:sp>
        <p:nvSpPr>
          <p:cNvPr id="23" name="Shape 14"/>
          <p:cNvSpPr/>
          <p:nvPr/>
        </p:nvSpPr>
        <p:spPr>
          <a:xfrm>
            <a:off x="5806440" y="1645920"/>
            <a:ext cx="5852160" cy="4480560"/>
          </a:xfrm>
          <a:prstGeom prst="roundRect">
            <a:avLst>
              <a:gd name="adj" fmla="val 1224"/>
            </a:avLst>
          </a:prstGeom>
          <a:solidFill>
            <a:srgbClr val="FFFFFF"/>
          </a:solidFill>
          <a:ln w="19050">
            <a:solidFill>
              <a:srgbClr val="E4DBFF"/>
            </a:solidFill>
            <a:prstDash val="solid"/>
          </a:ln>
          <a:effectLst>
            <a:outerShdw blurRad="127000" dist="38100" dir="5400000" algn="bl" rotWithShape="0">
              <a:srgbClr val="000000">
                <a:alpha val="18000"/>
              </a:srgbClr>
            </a:outerShdw>
          </a:effectLst>
        </p:spPr>
        <p:txBody>
          <a:bodyPr/>
          <a:lstStyle/>
          <a:p>
            <a:endParaRPr lang="en-IN"/>
          </a:p>
        </p:txBody>
      </p:sp>
      <p:pic>
        <p:nvPicPr>
          <p:cNvPr id="24" name="Image 7" descr="/mnt/user-data/uploads/E-commerce_Customer_Analytics_PowerBI_dashboard.png"/>
          <p:cNvPicPr>
            <a:picLocks noChangeAspect="1"/>
          </p:cNvPicPr>
          <p:nvPr/>
        </p:nvPicPr>
        <p:blipFill>
          <a:blip r:embed="rId9"/>
          <a:stretch>
            <a:fillRect/>
          </a:stretch>
        </p:blipFill>
        <p:spPr>
          <a:xfrm>
            <a:off x="5943600" y="1886974"/>
            <a:ext cx="5577840" cy="3998451"/>
          </a:xfrm>
          <a:prstGeom prst="rect">
            <a:avLst/>
          </a:prstGeom>
        </p:spPr>
      </p:pic>
      <p:sp>
        <p:nvSpPr>
          <p:cNvPr id="25" name="Text 15"/>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8079A0"/>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3"/>
          <a:stretch>
            <a:fillRect/>
          </a:stretch>
        </p:blipFill>
        <p:spPr>
          <a:xfrm>
            <a:off x="10408615" y="347472"/>
            <a:ext cx="1325880" cy="455604"/>
          </a:xfrm>
          <a:prstGeom prst="rect">
            <a:avLst/>
          </a:prstGeom>
        </p:spPr>
      </p:pic>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4A3F6B"/>
                </a:solidFill>
                <a:latin typeface="Cambria" pitchFamily="34" charset="0"/>
                <a:ea typeface="Cambria" pitchFamily="34" charset="-122"/>
                <a:cs typeface="Cambria" pitchFamily="34" charset="-120"/>
              </a:rPr>
              <a:t>Key Features</a:t>
            </a:r>
            <a:endParaRPr lang="en-US" sz="3200" dirty="0"/>
          </a:p>
        </p:txBody>
      </p:sp>
      <p:sp>
        <p:nvSpPr>
          <p:cNvPr id="5" name="Shape 2"/>
          <p:cNvSpPr/>
          <p:nvPr/>
        </p:nvSpPr>
        <p:spPr>
          <a:xfrm>
            <a:off x="548640" y="1691640"/>
            <a:ext cx="457200" cy="457200"/>
          </a:xfrm>
          <a:prstGeom prst="ellipse">
            <a:avLst/>
          </a:prstGeom>
          <a:solidFill>
            <a:srgbClr val="8874C0"/>
          </a:solidFill>
          <a:ln/>
        </p:spPr>
        <p:txBody>
          <a:bodyPr/>
          <a:lstStyle/>
          <a:p>
            <a:endParaRPr lang="en-IN"/>
          </a:p>
        </p:txBody>
      </p:sp>
      <p:pic>
        <p:nvPicPr>
          <p:cNvPr id="6" name="Image 1" descr="/home/claude/assets/chart_pie.png"/>
          <p:cNvPicPr>
            <a:picLocks noChangeAspect="1"/>
          </p:cNvPicPr>
          <p:nvPr/>
        </p:nvPicPr>
        <p:blipFill>
          <a:blip r:embed="rId4"/>
          <a:stretch>
            <a:fillRect/>
          </a:stretch>
        </p:blipFill>
        <p:spPr>
          <a:xfrm>
            <a:off x="649224" y="1792224"/>
            <a:ext cx="256032" cy="256032"/>
          </a:xfrm>
          <a:prstGeom prst="rect">
            <a:avLst/>
          </a:prstGeom>
        </p:spPr>
      </p:pic>
      <p:sp>
        <p:nvSpPr>
          <p:cNvPr id="7" name="Text 3"/>
          <p:cNvSpPr/>
          <p:nvPr/>
        </p:nvSpPr>
        <p:spPr>
          <a:xfrm>
            <a:off x="1170432" y="167335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5 KPI cards — revenue, orders, AOV, new customers, refunds</a:t>
            </a:r>
            <a:endParaRPr lang="en-US" sz="1250" dirty="0"/>
          </a:p>
        </p:txBody>
      </p:sp>
      <p:sp>
        <p:nvSpPr>
          <p:cNvPr id="8" name="Shape 4"/>
          <p:cNvSpPr/>
          <p:nvPr/>
        </p:nvSpPr>
        <p:spPr>
          <a:xfrm>
            <a:off x="548640" y="2295144"/>
            <a:ext cx="457200" cy="457200"/>
          </a:xfrm>
          <a:prstGeom prst="ellipse">
            <a:avLst/>
          </a:prstGeom>
          <a:solidFill>
            <a:srgbClr val="8874C0"/>
          </a:solidFill>
          <a:ln/>
        </p:spPr>
        <p:txBody>
          <a:bodyPr/>
          <a:lstStyle/>
          <a:p>
            <a:endParaRPr lang="en-IN"/>
          </a:p>
        </p:txBody>
      </p:sp>
      <p:pic>
        <p:nvPicPr>
          <p:cNvPr id="9" name="Image 2" descr="/home/claude/assets/map.png"/>
          <p:cNvPicPr>
            <a:picLocks noChangeAspect="1"/>
          </p:cNvPicPr>
          <p:nvPr/>
        </p:nvPicPr>
        <p:blipFill>
          <a:blip r:embed="rId5"/>
          <a:stretch>
            <a:fillRect/>
          </a:stretch>
        </p:blipFill>
        <p:spPr>
          <a:xfrm>
            <a:off x="649224" y="2395728"/>
            <a:ext cx="256032" cy="256032"/>
          </a:xfrm>
          <a:prstGeom prst="rect">
            <a:avLst/>
          </a:prstGeom>
        </p:spPr>
      </p:pic>
      <p:sp>
        <p:nvSpPr>
          <p:cNvPr id="10" name="Text 5"/>
          <p:cNvSpPr/>
          <p:nvPr/>
        </p:nvSpPr>
        <p:spPr>
          <a:xfrm>
            <a:off x="1170432" y="2276856"/>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Geographic view of orders by customer state</a:t>
            </a:r>
            <a:endParaRPr lang="en-US" sz="1250" dirty="0"/>
          </a:p>
        </p:txBody>
      </p:sp>
      <p:sp>
        <p:nvSpPr>
          <p:cNvPr id="11" name="Shape 6"/>
          <p:cNvSpPr/>
          <p:nvPr/>
        </p:nvSpPr>
        <p:spPr>
          <a:xfrm>
            <a:off x="548640" y="2898648"/>
            <a:ext cx="457200" cy="457200"/>
          </a:xfrm>
          <a:prstGeom prst="ellipse">
            <a:avLst/>
          </a:prstGeom>
          <a:solidFill>
            <a:srgbClr val="8874C0"/>
          </a:solidFill>
          <a:ln/>
        </p:spPr>
        <p:txBody>
          <a:bodyPr/>
          <a:lstStyle/>
          <a:p>
            <a:endParaRPr lang="en-IN"/>
          </a:p>
        </p:txBody>
      </p:sp>
      <p:pic>
        <p:nvPicPr>
          <p:cNvPr id="12" name="Image 3" descr="/home/claude/assets/chart.png"/>
          <p:cNvPicPr>
            <a:picLocks noChangeAspect="1"/>
          </p:cNvPicPr>
          <p:nvPr/>
        </p:nvPicPr>
        <p:blipFill>
          <a:blip r:embed="rId6"/>
          <a:stretch>
            <a:fillRect/>
          </a:stretch>
        </p:blipFill>
        <p:spPr>
          <a:xfrm>
            <a:off x="649224" y="2999232"/>
            <a:ext cx="256032" cy="256032"/>
          </a:xfrm>
          <a:prstGeom prst="rect">
            <a:avLst/>
          </a:prstGeom>
        </p:spPr>
      </p:pic>
      <p:sp>
        <p:nvSpPr>
          <p:cNvPr id="13" name="Text 7"/>
          <p:cNvSpPr/>
          <p:nvPr/>
        </p:nvSpPr>
        <p:spPr>
          <a:xfrm>
            <a:off x="1170432" y="2880360"/>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Monthly revenue &amp; order trend analysis</a:t>
            </a:r>
            <a:endParaRPr lang="en-US" sz="1250" dirty="0"/>
          </a:p>
        </p:txBody>
      </p:sp>
      <p:sp>
        <p:nvSpPr>
          <p:cNvPr id="14" name="Shape 8"/>
          <p:cNvSpPr/>
          <p:nvPr/>
        </p:nvSpPr>
        <p:spPr>
          <a:xfrm>
            <a:off x="548640" y="3502152"/>
            <a:ext cx="457200" cy="457200"/>
          </a:xfrm>
          <a:prstGeom prst="ellipse">
            <a:avLst/>
          </a:prstGeom>
          <a:solidFill>
            <a:srgbClr val="8874C0"/>
          </a:solidFill>
          <a:ln/>
        </p:spPr>
        <p:txBody>
          <a:bodyPr/>
          <a:lstStyle/>
          <a:p>
            <a:endParaRPr lang="en-IN"/>
          </a:p>
        </p:txBody>
      </p:sp>
      <p:pic>
        <p:nvPicPr>
          <p:cNvPr id="15" name="Image 4" descr="/home/claude/assets/star.png"/>
          <p:cNvPicPr>
            <a:picLocks noChangeAspect="1"/>
          </p:cNvPicPr>
          <p:nvPr/>
        </p:nvPicPr>
        <p:blipFill>
          <a:blip r:embed="rId7"/>
          <a:stretch>
            <a:fillRect/>
          </a:stretch>
        </p:blipFill>
        <p:spPr>
          <a:xfrm>
            <a:off x="649224" y="3602736"/>
            <a:ext cx="256032" cy="256032"/>
          </a:xfrm>
          <a:prstGeom prst="rect">
            <a:avLst/>
          </a:prstGeom>
        </p:spPr>
      </p:pic>
      <p:sp>
        <p:nvSpPr>
          <p:cNvPr id="16" name="Text 9"/>
          <p:cNvSpPr/>
          <p:nvPr/>
        </p:nvSpPr>
        <p:spPr>
          <a:xfrm>
            <a:off x="1170432" y="3483864"/>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Top-10 customer ranking &amp; average review score</a:t>
            </a:r>
            <a:endParaRPr lang="en-US" sz="1250" dirty="0"/>
          </a:p>
        </p:txBody>
      </p:sp>
      <p:sp>
        <p:nvSpPr>
          <p:cNvPr id="17" name="Shape 10"/>
          <p:cNvSpPr/>
          <p:nvPr/>
        </p:nvSpPr>
        <p:spPr>
          <a:xfrm>
            <a:off x="548640" y="4105656"/>
            <a:ext cx="457200" cy="457200"/>
          </a:xfrm>
          <a:prstGeom prst="ellipse">
            <a:avLst/>
          </a:prstGeom>
          <a:solidFill>
            <a:srgbClr val="8874C0"/>
          </a:solidFill>
          <a:ln/>
        </p:spPr>
        <p:txBody>
          <a:bodyPr/>
          <a:lstStyle/>
          <a:p>
            <a:endParaRPr lang="en-IN"/>
          </a:p>
        </p:txBody>
      </p:sp>
      <p:pic>
        <p:nvPicPr>
          <p:cNvPr id="18" name="Image 5" descr="/home/claude/assets/creditcard.png"/>
          <p:cNvPicPr>
            <a:picLocks noChangeAspect="1"/>
          </p:cNvPicPr>
          <p:nvPr/>
        </p:nvPicPr>
        <p:blipFill>
          <a:blip r:embed="rId8"/>
          <a:stretch>
            <a:fillRect/>
          </a:stretch>
        </p:blipFill>
        <p:spPr>
          <a:xfrm>
            <a:off x="649224" y="4206240"/>
            <a:ext cx="256032" cy="256032"/>
          </a:xfrm>
          <a:prstGeom prst="rect">
            <a:avLst/>
          </a:prstGeom>
        </p:spPr>
      </p:pic>
      <p:sp>
        <p:nvSpPr>
          <p:cNvPr id="19" name="Text 11"/>
          <p:cNvSpPr/>
          <p:nvPr/>
        </p:nvSpPr>
        <p:spPr>
          <a:xfrm>
            <a:off x="1170432" y="4087368"/>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Payment type and delivery performance breakdown</a:t>
            </a:r>
            <a:endParaRPr lang="en-US" sz="1250" dirty="0"/>
          </a:p>
        </p:txBody>
      </p:sp>
      <p:sp>
        <p:nvSpPr>
          <p:cNvPr id="20" name="Shape 12"/>
          <p:cNvSpPr/>
          <p:nvPr/>
        </p:nvSpPr>
        <p:spPr>
          <a:xfrm>
            <a:off x="548640" y="4709160"/>
            <a:ext cx="457200" cy="457200"/>
          </a:xfrm>
          <a:prstGeom prst="ellipse">
            <a:avLst/>
          </a:prstGeom>
          <a:solidFill>
            <a:srgbClr val="8874C0"/>
          </a:solidFill>
          <a:ln/>
        </p:spPr>
        <p:txBody>
          <a:bodyPr/>
          <a:lstStyle/>
          <a:p>
            <a:endParaRPr lang="en-IN"/>
          </a:p>
        </p:txBody>
      </p:sp>
      <p:pic>
        <p:nvPicPr>
          <p:cNvPr id="21" name="Image 6" descr="/home/claude/assets/filter.png"/>
          <p:cNvPicPr>
            <a:picLocks noChangeAspect="1"/>
          </p:cNvPicPr>
          <p:nvPr/>
        </p:nvPicPr>
        <p:blipFill>
          <a:blip r:embed="rId9"/>
          <a:stretch>
            <a:fillRect/>
          </a:stretch>
        </p:blipFill>
        <p:spPr>
          <a:xfrm>
            <a:off x="649224" y="4809744"/>
            <a:ext cx="256032" cy="256032"/>
          </a:xfrm>
          <a:prstGeom prst="rect">
            <a:avLst/>
          </a:prstGeom>
        </p:spPr>
      </p:pic>
      <p:sp>
        <p:nvSpPr>
          <p:cNvPr id="22" name="Text 13"/>
          <p:cNvSpPr/>
          <p:nvPr/>
        </p:nvSpPr>
        <p:spPr>
          <a:xfrm>
            <a:off x="1170432" y="4690872"/>
            <a:ext cx="4480560" cy="512064"/>
          </a:xfrm>
          <a:prstGeom prst="rect">
            <a:avLst/>
          </a:prstGeom>
          <a:noFill/>
          <a:ln/>
        </p:spPr>
        <p:txBody>
          <a:bodyPr wrap="square" lIns="0" tIns="0" rIns="0" bIns="0" rtlCol="0" anchor="ctr"/>
          <a:lstStyle/>
          <a:p>
            <a:pPr marL="0" indent="0">
              <a:lnSpc>
                <a:spcPct val="115000"/>
              </a:lnSpc>
              <a:buNone/>
            </a:pPr>
            <a:r>
              <a:rPr lang="en-US" sz="1250" dirty="0">
                <a:solidFill>
                  <a:srgbClr val="4A4460"/>
                </a:solidFill>
                <a:latin typeface="Calibri" pitchFamily="34" charset="0"/>
                <a:ea typeface="Calibri" pitchFamily="34" charset="-122"/>
                <a:cs typeface="Calibri" pitchFamily="34" charset="-120"/>
              </a:rPr>
              <a:t>Dynamic slicers for state, segment, status &amp; category</a:t>
            </a:r>
            <a:endParaRPr lang="en-US" sz="1250" dirty="0"/>
          </a:p>
        </p:txBody>
      </p:sp>
      <p:sp>
        <p:nvSpPr>
          <p:cNvPr id="23" name="Shape 14"/>
          <p:cNvSpPr/>
          <p:nvPr/>
        </p:nvSpPr>
        <p:spPr>
          <a:xfrm>
            <a:off x="5806440" y="1645920"/>
            <a:ext cx="5852160" cy="3557016"/>
          </a:xfrm>
          <a:prstGeom prst="roundRect">
            <a:avLst>
              <a:gd name="adj" fmla="val 1224"/>
            </a:avLst>
          </a:prstGeom>
          <a:solidFill>
            <a:srgbClr val="FFFFFF"/>
          </a:solidFill>
          <a:ln w="19050">
            <a:solidFill>
              <a:srgbClr val="E4DBFF"/>
            </a:solidFill>
            <a:prstDash val="solid"/>
          </a:ln>
          <a:effectLst>
            <a:outerShdw blurRad="127000" dist="38100" dir="5400000" algn="bl" rotWithShape="0">
              <a:srgbClr val="000000">
                <a:alpha val="18000"/>
              </a:srgbClr>
            </a:outerShdw>
          </a:effectLst>
        </p:spPr>
        <p:txBody>
          <a:bodyPr/>
          <a:lstStyle/>
          <a:p>
            <a:endParaRPr lang="en-IN"/>
          </a:p>
        </p:txBody>
      </p:sp>
      <p:pic>
        <p:nvPicPr>
          <p:cNvPr id="24" name="Image 7" descr="/mnt/user-data/uploads/E-commerce_Customer_Analytics_PowerBI_dashboard.png"/>
          <p:cNvPicPr>
            <a:picLocks noChangeAspect="1"/>
          </p:cNvPicPr>
          <p:nvPr/>
        </p:nvPicPr>
        <p:blipFill>
          <a:blip r:embed="rId10"/>
          <a:stretch>
            <a:fillRect/>
          </a:stretch>
        </p:blipFill>
        <p:spPr>
          <a:xfrm>
            <a:off x="5943600" y="1783080"/>
            <a:ext cx="5577840" cy="3118433"/>
          </a:xfrm>
          <a:prstGeom prst="rect">
            <a:avLst/>
          </a:prstGeom>
        </p:spPr>
      </p:pic>
      <p:sp>
        <p:nvSpPr>
          <p:cNvPr id="25" name="Text 15"/>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8079A0"/>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mnt/user-data/uploads/CoE_logo.png"/>
          <p:cNvPicPr>
            <a:picLocks noChangeAspect="1"/>
          </p:cNvPicPr>
          <p:nvPr/>
        </p:nvPicPr>
        <p:blipFill>
          <a:blip r:embed="rId3"/>
          <a:stretch>
            <a:fillRect/>
          </a:stretch>
        </p:blipFill>
        <p:spPr>
          <a:xfrm>
            <a:off x="10408615" y="347472"/>
            <a:ext cx="1325880" cy="455604"/>
          </a:xfrm>
          <a:prstGeom prst="rect">
            <a:avLst/>
          </a:prstGeom>
        </p:spPr>
      </p:pic>
      <p:sp>
        <p:nvSpPr>
          <p:cNvPr id="4" name="Text 1"/>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4A3F6B"/>
                </a:solidFill>
                <a:latin typeface="Cambria" pitchFamily="34" charset="0"/>
                <a:ea typeface="Cambria" pitchFamily="34" charset="-122"/>
                <a:cs typeface="Cambria" pitchFamily="34" charset="-120"/>
              </a:rPr>
              <a:t>Learning Outcome</a:t>
            </a:r>
            <a:endParaRPr lang="en-US" sz="3200" dirty="0"/>
          </a:p>
        </p:txBody>
      </p:sp>
      <p:sp>
        <p:nvSpPr>
          <p:cNvPr id="5" name="Shape 2"/>
          <p:cNvSpPr/>
          <p:nvPr/>
        </p:nvSpPr>
        <p:spPr>
          <a:xfrm>
            <a:off x="548640" y="1645920"/>
            <a:ext cx="3611880" cy="1965960"/>
          </a:xfrm>
          <a:prstGeom prst="roundRect">
            <a:avLst>
              <a:gd name="adj" fmla="val 4186"/>
            </a:avLst>
          </a:prstGeom>
          <a:solidFill>
            <a:srgbClr val="FAF8FF"/>
          </a:solidFill>
          <a:ln w="12700">
            <a:solidFill>
              <a:srgbClr val="E4DBFF"/>
            </a:solidFill>
            <a:prstDash val="solid"/>
          </a:ln>
        </p:spPr>
        <p:txBody>
          <a:bodyPr/>
          <a:lstStyle/>
          <a:p>
            <a:endParaRPr lang="en-IN"/>
          </a:p>
        </p:txBody>
      </p:sp>
      <p:sp>
        <p:nvSpPr>
          <p:cNvPr id="6" name="Shape 3"/>
          <p:cNvSpPr/>
          <p:nvPr/>
        </p:nvSpPr>
        <p:spPr>
          <a:xfrm>
            <a:off x="804672" y="1901952"/>
            <a:ext cx="566928" cy="566928"/>
          </a:xfrm>
          <a:prstGeom prst="ellipse">
            <a:avLst/>
          </a:prstGeom>
          <a:solidFill>
            <a:srgbClr val="8874C0"/>
          </a:solidFill>
          <a:ln/>
        </p:spPr>
        <p:txBody>
          <a:bodyPr/>
          <a:lstStyle/>
          <a:p>
            <a:endParaRPr lang="en-IN"/>
          </a:p>
        </p:txBody>
      </p:sp>
      <p:pic>
        <p:nvPicPr>
          <p:cNvPr id="7" name="Image 1" descr="/home/claude/assets/bolt.png"/>
          <p:cNvPicPr>
            <a:picLocks noChangeAspect="1"/>
          </p:cNvPicPr>
          <p:nvPr/>
        </p:nvPicPr>
        <p:blipFill>
          <a:blip r:embed="rId4"/>
          <a:stretch>
            <a:fillRect/>
          </a:stretch>
        </p:blipFill>
        <p:spPr>
          <a:xfrm>
            <a:off x="929396" y="2026676"/>
            <a:ext cx="317480" cy="317480"/>
          </a:xfrm>
          <a:prstGeom prst="rect">
            <a:avLst/>
          </a:prstGeom>
        </p:spPr>
      </p:pic>
      <p:sp>
        <p:nvSpPr>
          <p:cNvPr id="8" name="Text 4"/>
          <p:cNvSpPr/>
          <p:nvPr/>
        </p:nvSpPr>
        <p:spPr>
          <a:xfrm>
            <a:off x="804672" y="2578608"/>
            <a:ext cx="3108960" cy="365760"/>
          </a:xfrm>
          <a:prstGeom prst="rect">
            <a:avLst/>
          </a:prstGeom>
          <a:noFill/>
          <a:ln/>
        </p:spPr>
        <p:txBody>
          <a:bodyPr wrap="square" lIns="0" tIns="0" rIns="0" bIns="0" rtlCol="0" anchor="ctr"/>
          <a:lstStyle/>
          <a:p>
            <a:pPr marL="0" indent="0">
              <a:buNone/>
            </a:pPr>
            <a:r>
              <a:rPr lang="en-US" sz="1450" b="1" dirty="0">
                <a:solidFill>
                  <a:srgbClr val="4A3F6B"/>
                </a:solidFill>
                <a:latin typeface="Cambria" pitchFamily="34" charset="0"/>
                <a:ea typeface="Cambria" pitchFamily="34" charset="-122"/>
                <a:cs typeface="Cambria" pitchFamily="34" charset="-120"/>
              </a:rPr>
              <a:t>DAX &amp; Measures</a:t>
            </a:r>
            <a:endParaRPr lang="en-US" sz="1450" dirty="0"/>
          </a:p>
        </p:txBody>
      </p:sp>
      <p:sp>
        <p:nvSpPr>
          <p:cNvPr id="9" name="Text 5"/>
          <p:cNvSpPr/>
          <p:nvPr/>
        </p:nvSpPr>
        <p:spPr>
          <a:xfrm>
            <a:off x="804672" y="2944368"/>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8079A0"/>
                </a:solidFill>
                <a:latin typeface="Calibri" pitchFamily="34" charset="0"/>
                <a:ea typeface="Calibri" pitchFamily="34" charset="-122"/>
                <a:cs typeface="Calibri" pitchFamily="34" charset="-120"/>
              </a:rPr>
              <a:t>Wrote DAX formulas for KPIs like AOV and on-time delivery %.</a:t>
            </a:r>
            <a:endParaRPr lang="en-US" sz="1050" dirty="0"/>
          </a:p>
        </p:txBody>
      </p:sp>
      <p:sp>
        <p:nvSpPr>
          <p:cNvPr id="10" name="Shape 6"/>
          <p:cNvSpPr/>
          <p:nvPr/>
        </p:nvSpPr>
        <p:spPr>
          <a:xfrm>
            <a:off x="4343400" y="1645920"/>
            <a:ext cx="3611880" cy="1965960"/>
          </a:xfrm>
          <a:prstGeom prst="roundRect">
            <a:avLst>
              <a:gd name="adj" fmla="val 4186"/>
            </a:avLst>
          </a:prstGeom>
          <a:solidFill>
            <a:srgbClr val="FAF8FF"/>
          </a:solidFill>
          <a:ln w="12700">
            <a:solidFill>
              <a:srgbClr val="E4DBFF"/>
            </a:solidFill>
            <a:prstDash val="solid"/>
          </a:ln>
        </p:spPr>
        <p:txBody>
          <a:bodyPr/>
          <a:lstStyle/>
          <a:p>
            <a:endParaRPr lang="en-IN"/>
          </a:p>
        </p:txBody>
      </p:sp>
      <p:sp>
        <p:nvSpPr>
          <p:cNvPr id="11" name="Shape 7"/>
          <p:cNvSpPr/>
          <p:nvPr/>
        </p:nvSpPr>
        <p:spPr>
          <a:xfrm>
            <a:off x="4599432" y="1901952"/>
            <a:ext cx="566928" cy="566928"/>
          </a:xfrm>
          <a:prstGeom prst="ellipse">
            <a:avLst/>
          </a:prstGeom>
          <a:solidFill>
            <a:srgbClr val="8874C0"/>
          </a:solidFill>
          <a:ln/>
        </p:spPr>
        <p:txBody>
          <a:bodyPr/>
          <a:lstStyle/>
          <a:p>
            <a:endParaRPr lang="en-IN"/>
          </a:p>
        </p:txBody>
      </p:sp>
      <p:pic>
        <p:nvPicPr>
          <p:cNvPr id="12" name="Image 2" descr="/home/claude/assets/layer.png"/>
          <p:cNvPicPr>
            <a:picLocks noChangeAspect="1"/>
          </p:cNvPicPr>
          <p:nvPr/>
        </p:nvPicPr>
        <p:blipFill>
          <a:blip r:embed="rId5"/>
          <a:stretch>
            <a:fillRect/>
          </a:stretch>
        </p:blipFill>
        <p:spPr>
          <a:xfrm>
            <a:off x="4724156" y="2026676"/>
            <a:ext cx="317480" cy="317480"/>
          </a:xfrm>
          <a:prstGeom prst="rect">
            <a:avLst/>
          </a:prstGeom>
        </p:spPr>
      </p:pic>
      <p:sp>
        <p:nvSpPr>
          <p:cNvPr id="13" name="Text 8"/>
          <p:cNvSpPr/>
          <p:nvPr/>
        </p:nvSpPr>
        <p:spPr>
          <a:xfrm>
            <a:off x="4599432" y="2578608"/>
            <a:ext cx="3108960" cy="365760"/>
          </a:xfrm>
          <a:prstGeom prst="rect">
            <a:avLst/>
          </a:prstGeom>
          <a:noFill/>
          <a:ln/>
        </p:spPr>
        <p:txBody>
          <a:bodyPr wrap="square" lIns="0" tIns="0" rIns="0" bIns="0" rtlCol="0" anchor="ctr"/>
          <a:lstStyle/>
          <a:p>
            <a:pPr marL="0" indent="0">
              <a:buNone/>
            </a:pPr>
            <a:r>
              <a:rPr lang="en-US" sz="1450" b="1" dirty="0">
                <a:solidFill>
                  <a:srgbClr val="4A3F6B"/>
                </a:solidFill>
                <a:latin typeface="Cambria" pitchFamily="34" charset="0"/>
                <a:ea typeface="Cambria" pitchFamily="34" charset="-122"/>
                <a:cs typeface="Cambria" pitchFamily="34" charset="-120"/>
              </a:rPr>
              <a:t>Data Modeling</a:t>
            </a:r>
            <a:endParaRPr lang="en-US" sz="1450" dirty="0"/>
          </a:p>
        </p:txBody>
      </p:sp>
      <p:sp>
        <p:nvSpPr>
          <p:cNvPr id="14" name="Text 9"/>
          <p:cNvSpPr/>
          <p:nvPr/>
        </p:nvSpPr>
        <p:spPr>
          <a:xfrm>
            <a:off x="4599432" y="2944368"/>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8079A0"/>
                </a:solidFill>
                <a:latin typeface="Calibri" pitchFamily="34" charset="0"/>
                <a:ea typeface="Calibri" pitchFamily="34" charset="-122"/>
                <a:cs typeface="Calibri" pitchFamily="34" charset="-120"/>
              </a:rPr>
              <a:t>Built relationships across multiple related tables.</a:t>
            </a:r>
            <a:endParaRPr lang="en-US" sz="1050" dirty="0"/>
          </a:p>
        </p:txBody>
      </p:sp>
      <p:sp>
        <p:nvSpPr>
          <p:cNvPr id="15" name="Shape 10"/>
          <p:cNvSpPr/>
          <p:nvPr/>
        </p:nvSpPr>
        <p:spPr>
          <a:xfrm>
            <a:off x="8138160" y="1645920"/>
            <a:ext cx="3611880" cy="1965960"/>
          </a:xfrm>
          <a:prstGeom prst="roundRect">
            <a:avLst>
              <a:gd name="adj" fmla="val 4186"/>
            </a:avLst>
          </a:prstGeom>
          <a:solidFill>
            <a:srgbClr val="FAF8FF"/>
          </a:solidFill>
          <a:ln w="12700">
            <a:solidFill>
              <a:srgbClr val="E4DBFF"/>
            </a:solidFill>
            <a:prstDash val="solid"/>
          </a:ln>
        </p:spPr>
        <p:txBody>
          <a:bodyPr/>
          <a:lstStyle/>
          <a:p>
            <a:endParaRPr lang="en-IN"/>
          </a:p>
        </p:txBody>
      </p:sp>
      <p:sp>
        <p:nvSpPr>
          <p:cNvPr id="16" name="Shape 11"/>
          <p:cNvSpPr/>
          <p:nvPr/>
        </p:nvSpPr>
        <p:spPr>
          <a:xfrm>
            <a:off x="8394192" y="1901952"/>
            <a:ext cx="566928" cy="566928"/>
          </a:xfrm>
          <a:prstGeom prst="ellipse">
            <a:avLst/>
          </a:prstGeom>
          <a:solidFill>
            <a:srgbClr val="8874C0"/>
          </a:solidFill>
          <a:ln/>
        </p:spPr>
        <p:txBody>
          <a:bodyPr/>
          <a:lstStyle/>
          <a:p>
            <a:endParaRPr lang="en-IN"/>
          </a:p>
        </p:txBody>
      </p:sp>
      <p:pic>
        <p:nvPicPr>
          <p:cNvPr id="17" name="Image 3" descr="/home/claude/assets/wand.png"/>
          <p:cNvPicPr>
            <a:picLocks noChangeAspect="1"/>
          </p:cNvPicPr>
          <p:nvPr/>
        </p:nvPicPr>
        <p:blipFill>
          <a:blip r:embed="rId6"/>
          <a:stretch>
            <a:fillRect/>
          </a:stretch>
        </p:blipFill>
        <p:spPr>
          <a:xfrm>
            <a:off x="8518916" y="2026676"/>
            <a:ext cx="317480" cy="317480"/>
          </a:xfrm>
          <a:prstGeom prst="rect">
            <a:avLst/>
          </a:prstGeom>
        </p:spPr>
      </p:pic>
      <p:sp>
        <p:nvSpPr>
          <p:cNvPr id="18" name="Text 12"/>
          <p:cNvSpPr/>
          <p:nvPr/>
        </p:nvSpPr>
        <p:spPr>
          <a:xfrm>
            <a:off x="8394192" y="2578608"/>
            <a:ext cx="3108960" cy="365760"/>
          </a:xfrm>
          <a:prstGeom prst="rect">
            <a:avLst/>
          </a:prstGeom>
          <a:noFill/>
          <a:ln/>
        </p:spPr>
        <p:txBody>
          <a:bodyPr wrap="square" lIns="0" tIns="0" rIns="0" bIns="0" rtlCol="0" anchor="ctr"/>
          <a:lstStyle/>
          <a:p>
            <a:pPr marL="0" indent="0">
              <a:buNone/>
            </a:pPr>
            <a:r>
              <a:rPr lang="en-US" sz="1450" b="1" dirty="0">
                <a:solidFill>
                  <a:srgbClr val="4A3F6B"/>
                </a:solidFill>
                <a:latin typeface="Cambria" pitchFamily="34" charset="0"/>
                <a:ea typeface="Cambria" pitchFamily="34" charset="-122"/>
                <a:cs typeface="Cambria" pitchFamily="34" charset="-120"/>
              </a:rPr>
              <a:t>Data Cleaning</a:t>
            </a:r>
            <a:endParaRPr lang="en-US" sz="1450" dirty="0"/>
          </a:p>
        </p:txBody>
      </p:sp>
      <p:sp>
        <p:nvSpPr>
          <p:cNvPr id="19" name="Text 13"/>
          <p:cNvSpPr/>
          <p:nvPr/>
        </p:nvSpPr>
        <p:spPr>
          <a:xfrm>
            <a:off x="8394192" y="2944368"/>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8079A0"/>
                </a:solidFill>
                <a:latin typeface="Calibri" pitchFamily="34" charset="0"/>
                <a:ea typeface="Calibri" pitchFamily="34" charset="-122"/>
                <a:cs typeface="Calibri" pitchFamily="34" charset="-120"/>
              </a:rPr>
              <a:t>Used Power Query to shape and merge raw Excel data.</a:t>
            </a:r>
            <a:endParaRPr lang="en-US" sz="1050" dirty="0"/>
          </a:p>
        </p:txBody>
      </p:sp>
      <p:sp>
        <p:nvSpPr>
          <p:cNvPr id="20" name="Shape 14"/>
          <p:cNvSpPr/>
          <p:nvPr/>
        </p:nvSpPr>
        <p:spPr>
          <a:xfrm>
            <a:off x="548640" y="3813048"/>
            <a:ext cx="3611880" cy="1965960"/>
          </a:xfrm>
          <a:prstGeom prst="roundRect">
            <a:avLst>
              <a:gd name="adj" fmla="val 4186"/>
            </a:avLst>
          </a:prstGeom>
          <a:solidFill>
            <a:srgbClr val="FAF8FF"/>
          </a:solidFill>
          <a:ln w="12700">
            <a:solidFill>
              <a:srgbClr val="E4DBFF"/>
            </a:solidFill>
            <a:prstDash val="solid"/>
          </a:ln>
        </p:spPr>
        <p:txBody>
          <a:bodyPr/>
          <a:lstStyle/>
          <a:p>
            <a:endParaRPr lang="en-IN"/>
          </a:p>
        </p:txBody>
      </p:sp>
      <p:sp>
        <p:nvSpPr>
          <p:cNvPr id="21" name="Shape 15"/>
          <p:cNvSpPr/>
          <p:nvPr/>
        </p:nvSpPr>
        <p:spPr>
          <a:xfrm>
            <a:off x="804672" y="4069080"/>
            <a:ext cx="566928" cy="566928"/>
          </a:xfrm>
          <a:prstGeom prst="ellipse">
            <a:avLst/>
          </a:prstGeom>
          <a:solidFill>
            <a:srgbClr val="8874C0"/>
          </a:solidFill>
          <a:ln/>
        </p:spPr>
        <p:txBody>
          <a:bodyPr/>
          <a:lstStyle/>
          <a:p>
            <a:endParaRPr lang="en-IN"/>
          </a:p>
        </p:txBody>
      </p:sp>
      <p:pic>
        <p:nvPicPr>
          <p:cNvPr id="22" name="Image 4" descr="/home/claude/assets/puzzle.png"/>
          <p:cNvPicPr>
            <a:picLocks noChangeAspect="1"/>
          </p:cNvPicPr>
          <p:nvPr/>
        </p:nvPicPr>
        <p:blipFill>
          <a:blip r:embed="rId7"/>
          <a:stretch>
            <a:fillRect/>
          </a:stretch>
        </p:blipFill>
        <p:spPr>
          <a:xfrm>
            <a:off x="929396" y="4193804"/>
            <a:ext cx="317480" cy="317480"/>
          </a:xfrm>
          <a:prstGeom prst="rect">
            <a:avLst/>
          </a:prstGeom>
        </p:spPr>
      </p:pic>
      <p:sp>
        <p:nvSpPr>
          <p:cNvPr id="23" name="Text 16"/>
          <p:cNvSpPr/>
          <p:nvPr/>
        </p:nvSpPr>
        <p:spPr>
          <a:xfrm>
            <a:off x="804672" y="4745736"/>
            <a:ext cx="3108960" cy="365760"/>
          </a:xfrm>
          <a:prstGeom prst="rect">
            <a:avLst/>
          </a:prstGeom>
          <a:noFill/>
          <a:ln/>
        </p:spPr>
        <p:txBody>
          <a:bodyPr wrap="square" lIns="0" tIns="0" rIns="0" bIns="0" rtlCol="0" anchor="ctr"/>
          <a:lstStyle/>
          <a:p>
            <a:pPr marL="0" indent="0">
              <a:buNone/>
            </a:pPr>
            <a:r>
              <a:rPr lang="en-US" sz="1450" b="1" dirty="0">
                <a:solidFill>
                  <a:srgbClr val="4A3F6B"/>
                </a:solidFill>
                <a:latin typeface="Cambria" pitchFamily="34" charset="0"/>
                <a:ea typeface="Cambria" pitchFamily="34" charset="-122"/>
                <a:cs typeface="Cambria" pitchFamily="34" charset="-120"/>
              </a:rPr>
              <a:t>Dashboard UX</a:t>
            </a:r>
            <a:endParaRPr lang="en-US" sz="1450" dirty="0"/>
          </a:p>
        </p:txBody>
      </p:sp>
      <p:sp>
        <p:nvSpPr>
          <p:cNvPr id="24" name="Text 17"/>
          <p:cNvSpPr/>
          <p:nvPr/>
        </p:nvSpPr>
        <p:spPr>
          <a:xfrm>
            <a:off x="804672" y="5111496"/>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8079A0"/>
                </a:solidFill>
                <a:latin typeface="Calibri" pitchFamily="34" charset="0"/>
                <a:ea typeface="Calibri" pitchFamily="34" charset="-122"/>
                <a:cs typeface="Calibri" pitchFamily="34" charset="-120"/>
              </a:rPr>
              <a:t>Designed clear, filterable, decision-ready dashboard layouts.</a:t>
            </a:r>
            <a:endParaRPr lang="en-US" sz="1050" dirty="0"/>
          </a:p>
        </p:txBody>
      </p:sp>
      <p:sp>
        <p:nvSpPr>
          <p:cNvPr id="25" name="Shape 18"/>
          <p:cNvSpPr/>
          <p:nvPr/>
        </p:nvSpPr>
        <p:spPr>
          <a:xfrm>
            <a:off x="4343400" y="3813048"/>
            <a:ext cx="3611880" cy="1965960"/>
          </a:xfrm>
          <a:prstGeom prst="roundRect">
            <a:avLst>
              <a:gd name="adj" fmla="val 4186"/>
            </a:avLst>
          </a:prstGeom>
          <a:solidFill>
            <a:srgbClr val="FAF8FF"/>
          </a:solidFill>
          <a:ln w="12700">
            <a:solidFill>
              <a:srgbClr val="E4DBFF"/>
            </a:solidFill>
            <a:prstDash val="solid"/>
          </a:ln>
        </p:spPr>
        <p:txBody>
          <a:bodyPr/>
          <a:lstStyle/>
          <a:p>
            <a:endParaRPr lang="en-IN"/>
          </a:p>
        </p:txBody>
      </p:sp>
      <p:sp>
        <p:nvSpPr>
          <p:cNvPr id="26" name="Shape 19"/>
          <p:cNvSpPr/>
          <p:nvPr/>
        </p:nvSpPr>
        <p:spPr>
          <a:xfrm>
            <a:off x="4599432" y="4069080"/>
            <a:ext cx="566928" cy="566928"/>
          </a:xfrm>
          <a:prstGeom prst="ellipse">
            <a:avLst/>
          </a:prstGeom>
          <a:solidFill>
            <a:srgbClr val="8874C0"/>
          </a:solidFill>
          <a:ln/>
        </p:spPr>
        <p:txBody>
          <a:bodyPr/>
          <a:lstStyle/>
          <a:p>
            <a:endParaRPr lang="en-IN"/>
          </a:p>
        </p:txBody>
      </p:sp>
      <p:pic>
        <p:nvPicPr>
          <p:cNvPr id="27" name="Image 5" descr="/home/claude/assets/lightbulb.png"/>
          <p:cNvPicPr>
            <a:picLocks noChangeAspect="1"/>
          </p:cNvPicPr>
          <p:nvPr/>
        </p:nvPicPr>
        <p:blipFill>
          <a:blip r:embed="rId8"/>
          <a:stretch>
            <a:fillRect/>
          </a:stretch>
        </p:blipFill>
        <p:spPr>
          <a:xfrm>
            <a:off x="4724156" y="4193804"/>
            <a:ext cx="317480" cy="317480"/>
          </a:xfrm>
          <a:prstGeom prst="rect">
            <a:avLst/>
          </a:prstGeom>
        </p:spPr>
      </p:pic>
      <p:sp>
        <p:nvSpPr>
          <p:cNvPr id="28" name="Text 20"/>
          <p:cNvSpPr/>
          <p:nvPr/>
        </p:nvSpPr>
        <p:spPr>
          <a:xfrm>
            <a:off x="4599432" y="4745736"/>
            <a:ext cx="3108960" cy="365760"/>
          </a:xfrm>
          <a:prstGeom prst="rect">
            <a:avLst/>
          </a:prstGeom>
          <a:noFill/>
          <a:ln/>
        </p:spPr>
        <p:txBody>
          <a:bodyPr wrap="square" lIns="0" tIns="0" rIns="0" bIns="0" rtlCol="0" anchor="ctr"/>
          <a:lstStyle/>
          <a:p>
            <a:pPr marL="0" indent="0">
              <a:buNone/>
            </a:pPr>
            <a:r>
              <a:rPr lang="en-US" sz="1450" b="1" dirty="0">
                <a:solidFill>
                  <a:srgbClr val="4A3F6B"/>
                </a:solidFill>
                <a:latin typeface="Cambria" pitchFamily="34" charset="0"/>
                <a:ea typeface="Cambria" pitchFamily="34" charset="-122"/>
                <a:cs typeface="Cambria" pitchFamily="34" charset="-120"/>
              </a:rPr>
              <a:t>Data Storytelling</a:t>
            </a:r>
            <a:endParaRPr lang="en-US" sz="1450" dirty="0"/>
          </a:p>
        </p:txBody>
      </p:sp>
      <p:sp>
        <p:nvSpPr>
          <p:cNvPr id="29" name="Text 21"/>
          <p:cNvSpPr/>
          <p:nvPr/>
        </p:nvSpPr>
        <p:spPr>
          <a:xfrm>
            <a:off x="4599432" y="5111496"/>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8079A0"/>
                </a:solidFill>
                <a:latin typeface="Calibri" pitchFamily="34" charset="0"/>
                <a:ea typeface="Calibri" pitchFamily="34" charset="-122"/>
                <a:cs typeface="Calibri" pitchFamily="34" charset="-120"/>
              </a:rPr>
              <a:t>Translated numbers into insights stakeholders can act on.</a:t>
            </a:r>
            <a:endParaRPr lang="en-US" sz="1050" dirty="0"/>
          </a:p>
        </p:txBody>
      </p:sp>
      <p:sp>
        <p:nvSpPr>
          <p:cNvPr id="30" name="Shape 22"/>
          <p:cNvSpPr/>
          <p:nvPr/>
        </p:nvSpPr>
        <p:spPr>
          <a:xfrm>
            <a:off x="8138160" y="3813048"/>
            <a:ext cx="3611880" cy="1965960"/>
          </a:xfrm>
          <a:prstGeom prst="roundRect">
            <a:avLst>
              <a:gd name="adj" fmla="val 4186"/>
            </a:avLst>
          </a:prstGeom>
          <a:solidFill>
            <a:srgbClr val="FAF8FF"/>
          </a:solidFill>
          <a:ln w="12700">
            <a:solidFill>
              <a:srgbClr val="E4DBFF"/>
            </a:solidFill>
            <a:prstDash val="solid"/>
          </a:ln>
        </p:spPr>
        <p:txBody>
          <a:bodyPr/>
          <a:lstStyle/>
          <a:p>
            <a:endParaRPr lang="en-IN"/>
          </a:p>
        </p:txBody>
      </p:sp>
      <p:sp>
        <p:nvSpPr>
          <p:cNvPr id="31" name="Shape 23"/>
          <p:cNvSpPr/>
          <p:nvPr/>
        </p:nvSpPr>
        <p:spPr>
          <a:xfrm>
            <a:off x="8394192" y="4069080"/>
            <a:ext cx="566928" cy="566928"/>
          </a:xfrm>
          <a:prstGeom prst="ellipse">
            <a:avLst/>
          </a:prstGeom>
          <a:solidFill>
            <a:srgbClr val="8874C0"/>
          </a:solidFill>
          <a:ln/>
        </p:spPr>
        <p:txBody>
          <a:bodyPr/>
          <a:lstStyle/>
          <a:p>
            <a:endParaRPr lang="en-IN"/>
          </a:p>
        </p:txBody>
      </p:sp>
      <p:pic>
        <p:nvPicPr>
          <p:cNvPr id="32" name="Image 6" descr="/home/claude/assets/brain.png"/>
          <p:cNvPicPr>
            <a:picLocks noChangeAspect="1"/>
          </p:cNvPicPr>
          <p:nvPr/>
        </p:nvPicPr>
        <p:blipFill>
          <a:blip r:embed="rId9"/>
          <a:stretch>
            <a:fillRect/>
          </a:stretch>
        </p:blipFill>
        <p:spPr>
          <a:xfrm>
            <a:off x="8518916" y="4193804"/>
            <a:ext cx="317480" cy="317480"/>
          </a:xfrm>
          <a:prstGeom prst="rect">
            <a:avLst/>
          </a:prstGeom>
        </p:spPr>
      </p:pic>
      <p:sp>
        <p:nvSpPr>
          <p:cNvPr id="33" name="Text 24"/>
          <p:cNvSpPr/>
          <p:nvPr/>
        </p:nvSpPr>
        <p:spPr>
          <a:xfrm>
            <a:off x="8394192" y="4745736"/>
            <a:ext cx="3108960" cy="365760"/>
          </a:xfrm>
          <a:prstGeom prst="rect">
            <a:avLst/>
          </a:prstGeom>
          <a:noFill/>
          <a:ln/>
        </p:spPr>
        <p:txBody>
          <a:bodyPr wrap="square" lIns="0" tIns="0" rIns="0" bIns="0" rtlCol="0" anchor="ctr"/>
          <a:lstStyle/>
          <a:p>
            <a:pPr marL="0" indent="0">
              <a:buNone/>
            </a:pPr>
            <a:r>
              <a:rPr lang="en-US" sz="1450" b="1" dirty="0">
                <a:solidFill>
                  <a:srgbClr val="4A3F6B"/>
                </a:solidFill>
                <a:latin typeface="Cambria" pitchFamily="34" charset="0"/>
                <a:ea typeface="Cambria" pitchFamily="34" charset="-122"/>
                <a:cs typeface="Cambria" pitchFamily="34" charset="-120"/>
              </a:rPr>
              <a:t>Problem Solving</a:t>
            </a:r>
            <a:endParaRPr lang="en-US" sz="1450" dirty="0"/>
          </a:p>
        </p:txBody>
      </p:sp>
      <p:sp>
        <p:nvSpPr>
          <p:cNvPr id="34" name="Text 25"/>
          <p:cNvSpPr/>
          <p:nvPr/>
        </p:nvSpPr>
        <p:spPr>
          <a:xfrm>
            <a:off x="8394192" y="5111496"/>
            <a:ext cx="3108960" cy="594360"/>
          </a:xfrm>
          <a:prstGeom prst="rect">
            <a:avLst/>
          </a:prstGeom>
          <a:noFill/>
          <a:ln/>
        </p:spPr>
        <p:txBody>
          <a:bodyPr wrap="square" lIns="0" tIns="0" rIns="0" bIns="0" rtlCol="0" anchor="ctr"/>
          <a:lstStyle/>
          <a:p>
            <a:pPr marL="0" indent="0">
              <a:lnSpc>
                <a:spcPct val="120000"/>
              </a:lnSpc>
              <a:buNone/>
            </a:pPr>
            <a:r>
              <a:rPr lang="en-US" sz="1050" dirty="0">
                <a:solidFill>
                  <a:srgbClr val="8079A0"/>
                </a:solidFill>
                <a:latin typeface="Calibri" pitchFamily="34" charset="0"/>
                <a:ea typeface="Calibri" pitchFamily="34" charset="-122"/>
                <a:cs typeface="Calibri" pitchFamily="34" charset="-120"/>
              </a:rPr>
              <a:t>Worked through real-world, messy e-commerce data challenges.</a:t>
            </a:r>
            <a:endParaRPr lang="en-US" sz="1050" dirty="0"/>
          </a:p>
        </p:txBody>
      </p:sp>
      <p:sp>
        <p:nvSpPr>
          <p:cNvPr id="35" name="Text 26"/>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8079A0"/>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EFE7FF"/>
        </a:solidFill>
        <a:effectLst/>
      </p:bgPr>
    </p:bg>
    <p:spTree>
      <p:nvGrpSpPr>
        <p:cNvPr id="1" name=""/>
        <p:cNvGrpSpPr/>
        <p:nvPr/>
      </p:nvGrpSpPr>
      <p:grpSpPr>
        <a:xfrm>
          <a:off x="0" y="0"/>
          <a:ext cx="0" cy="0"/>
          <a:chOff x="0" y="0"/>
          <a:chExt cx="0" cy="0"/>
        </a:xfrm>
      </p:grpSpPr>
      <p:pic>
        <p:nvPicPr>
          <p:cNvPr id="4" name="Image 0" descr="/mnt/user-data/uploads/CoE_logo.png"/>
          <p:cNvPicPr>
            <a:picLocks noChangeAspect="1"/>
          </p:cNvPicPr>
          <p:nvPr/>
        </p:nvPicPr>
        <p:blipFill>
          <a:blip r:embed="rId3"/>
          <a:stretch>
            <a:fillRect/>
          </a:stretch>
        </p:blipFill>
        <p:spPr>
          <a:xfrm>
            <a:off x="10408615" y="347472"/>
            <a:ext cx="1325880" cy="455604"/>
          </a:xfrm>
          <a:prstGeom prst="rect">
            <a:avLst/>
          </a:prstGeom>
        </p:spPr>
      </p:pic>
      <p:sp>
        <p:nvSpPr>
          <p:cNvPr id="6" name="Text 3"/>
          <p:cNvSpPr/>
          <p:nvPr/>
        </p:nvSpPr>
        <p:spPr>
          <a:xfrm>
            <a:off x="548640" y="658368"/>
            <a:ext cx="7863840" cy="685800"/>
          </a:xfrm>
          <a:prstGeom prst="rect">
            <a:avLst/>
          </a:prstGeom>
          <a:noFill/>
          <a:ln/>
        </p:spPr>
        <p:txBody>
          <a:bodyPr wrap="square" lIns="0" tIns="0" rIns="0" bIns="0" rtlCol="0" anchor="ctr"/>
          <a:lstStyle/>
          <a:p>
            <a:pPr marL="0" indent="0">
              <a:buNone/>
            </a:pPr>
            <a:r>
              <a:rPr lang="en-US" sz="3200" b="1" dirty="0">
                <a:solidFill>
                  <a:srgbClr val="4A3F6B"/>
                </a:solidFill>
                <a:latin typeface="Cambria" pitchFamily="34" charset="0"/>
                <a:ea typeface="Cambria" pitchFamily="34" charset="-122"/>
                <a:cs typeface="Cambria" pitchFamily="34" charset="-120"/>
              </a:rPr>
              <a:t>Conclusion</a:t>
            </a:r>
            <a:endParaRPr lang="en-US" sz="3200" dirty="0"/>
          </a:p>
        </p:txBody>
      </p:sp>
      <p:sp>
        <p:nvSpPr>
          <p:cNvPr id="7" name="Text 4"/>
          <p:cNvSpPr/>
          <p:nvPr/>
        </p:nvSpPr>
        <p:spPr>
          <a:xfrm>
            <a:off x="566928" y="1691640"/>
            <a:ext cx="6400800" cy="2926080"/>
          </a:xfrm>
          <a:prstGeom prst="rect">
            <a:avLst/>
          </a:prstGeom>
          <a:noFill/>
          <a:ln/>
        </p:spPr>
        <p:txBody>
          <a:bodyPr wrap="square" lIns="0" tIns="0" rIns="0" bIns="0" rtlCol="0" anchor="ctr"/>
          <a:lstStyle/>
          <a:p>
            <a:pPr marL="0" indent="0">
              <a:lnSpc>
                <a:spcPct val="140000"/>
              </a:lnSpc>
              <a:buNone/>
            </a:pPr>
            <a:r>
              <a:rPr lang="en-US" sz="1450" dirty="0">
                <a:solidFill>
                  <a:srgbClr val="4A4460"/>
                </a:solidFill>
                <a:latin typeface="Calibri" pitchFamily="34" charset="0"/>
                <a:ea typeface="Calibri" pitchFamily="34" charset="-122"/>
                <a:cs typeface="Calibri" pitchFamily="34" charset="-120"/>
              </a:rPr>
              <a:t>The E-commerce Customer Analytics dashboard turns raw Olist transaction data into a single, interactive view of revenue, orders, customer segments and delivery performance. Business users can filter by state, segment, payment type and order status to answer questions in seconds rather than hours. The project demonstrates a complete, practical Power BI workflow — from messy multi-table data to a polished, decision-ready dashboard.</a:t>
            </a:r>
            <a:endParaRPr lang="en-US" sz="1450" dirty="0"/>
          </a:p>
        </p:txBody>
      </p:sp>
      <p:sp>
        <p:nvSpPr>
          <p:cNvPr id="8" name="Shape 5"/>
          <p:cNvSpPr/>
          <p:nvPr/>
        </p:nvSpPr>
        <p:spPr>
          <a:xfrm>
            <a:off x="548640" y="4892040"/>
            <a:ext cx="6446520" cy="1051560"/>
          </a:xfrm>
          <a:prstGeom prst="roundRect">
            <a:avLst>
              <a:gd name="adj" fmla="val 7826"/>
            </a:avLst>
          </a:prstGeom>
          <a:solidFill>
            <a:srgbClr val="FFFFFF"/>
          </a:solidFill>
          <a:ln/>
        </p:spPr>
        <p:txBody>
          <a:bodyPr/>
          <a:lstStyle/>
          <a:p>
            <a:endParaRPr lang="en-IN"/>
          </a:p>
        </p:txBody>
      </p:sp>
      <p:sp>
        <p:nvSpPr>
          <p:cNvPr id="9" name="Shape 6"/>
          <p:cNvSpPr/>
          <p:nvPr/>
        </p:nvSpPr>
        <p:spPr>
          <a:xfrm>
            <a:off x="749808" y="5102352"/>
            <a:ext cx="621792" cy="621792"/>
          </a:xfrm>
          <a:prstGeom prst="ellipse">
            <a:avLst/>
          </a:prstGeom>
          <a:solidFill>
            <a:srgbClr val="8874C0"/>
          </a:solidFill>
          <a:ln/>
        </p:spPr>
        <p:txBody>
          <a:bodyPr/>
          <a:lstStyle/>
          <a:p>
            <a:endParaRPr lang="en-IN"/>
          </a:p>
        </p:txBody>
      </p:sp>
      <p:pic>
        <p:nvPicPr>
          <p:cNvPr id="10" name="Image 1" descr="/home/claude/assets/check.png"/>
          <p:cNvPicPr>
            <a:picLocks noChangeAspect="1"/>
          </p:cNvPicPr>
          <p:nvPr/>
        </p:nvPicPr>
        <p:blipFill>
          <a:blip r:embed="rId4"/>
          <a:stretch>
            <a:fillRect/>
          </a:stretch>
        </p:blipFill>
        <p:spPr>
          <a:xfrm>
            <a:off x="886602" y="5239146"/>
            <a:ext cx="348204" cy="348204"/>
          </a:xfrm>
          <a:prstGeom prst="rect">
            <a:avLst/>
          </a:prstGeom>
        </p:spPr>
      </p:pic>
      <p:sp>
        <p:nvSpPr>
          <p:cNvPr id="11" name="Text 7"/>
          <p:cNvSpPr/>
          <p:nvPr/>
        </p:nvSpPr>
        <p:spPr>
          <a:xfrm>
            <a:off x="1508760" y="4956048"/>
            <a:ext cx="5349240" cy="914400"/>
          </a:xfrm>
          <a:prstGeom prst="rect">
            <a:avLst/>
          </a:prstGeom>
          <a:noFill/>
          <a:ln/>
        </p:spPr>
        <p:txBody>
          <a:bodyPr wrap="square" lIns="0" tIns="0" rIns="0" bIns="0" rtlCol="0" anchor="ctr"/>
          <a:lstStyle/>
          <a:p>
            <a:pPr marL="0" indent="0">
              <a:lnSpc>
                <a:spcPct val="125000"/>
              </a:lnSpc>
              <a:buNone/>
            </a:pPr>
            <a:r>
              <a:rPr lang="en-US" sz="1150" b="1" dirty="0">
                <a:solidFill>
                  <a:srgbClr val="4A3F6B"/>
                </a:solidFill>
                <a:latin typeface="Calibri" pitchFamily="34" charset="0"/>
                <a:ea typeface="Calibri" pitchFamily="34" charset="-122"/>
                <a:cs typeface="Calibri" pitchFamily="34" charset="-120"/>
              </a:rPr>
              <a:t>Key Takeaway:  </a:t>
            </a:r>
            <a:r>
              <a:rPr lang="en-US" sz="1150" dirty="0">
                <a:solidFill>
                  <a:srgbClr val="4A4460"/>
                </a:solidFill>
                <a:latin typeface="Calibri" pitchFamily="34" charset="0"/>
                <a:ea typeface="Calibri" pitchFamily="34" charset="-122"/>
                <a:cs typeface="Calibri" pitchFamily="34" charset="-120"/>
              </a:rPr>
              <a:t>A fully self-serve BI dashboard that shortens the path from raw e-commerce data to confident business decisions.</a:t>
            </a:r>
            <a:endParaRPr lang="en-US" sz="1150" dirty="0"/>
          </a:p>
        </p:txBody>
      </p:sp>
      <p:sp>
        <p:nvSpPr>
          <p:cNvPr id="12" name="Shape 8"/>
          <p:cNvSpPr/>
          <p:nvPr/>
        </p:nvSpPr>
        <p:spPr>
          <a:xfrm>
            <a:off x="7818120" y="1737360"/>
            <a:ext cx="3822192" cy="777240"/>
          </a:xfrm>
          <a:prstGeom prst="roundRect">
            <a:avLst>
              <a:gd name="adj" fmla="val 9412"/>
            </a:avLst>
          </a:prstGeom>
          <a:solidFill>
            <a:srgbClr val="FFFFFF"/>
          </a:solidFill>
          <a:ln w="12700">
            <a:solidFill>
              <a:srgbClr val="E4DBFF"/>
            </a:solidFill>
            <a:prstDash val="solid"/>
          </a:ln>
          <a:effectLst>
            <a:outerShdw blurRad="101600" dist="25400" dir="5400000" algn="bl" rotWithShape="0">
              <a:srgbClr val="9B8AC4">
                <a:alpha val="16000"/>
              </a:srgbClr>
            </a:outerShdw>
          </a:effectLst>
        </p:spPr>
        <p:txBody>
          <a:bodyPr/>
          <a:lstStyle/>
          <a:p>
            <a:endParaRPr lang="en-IN"/>
          </a:p>
        </p:txBody>
      </p:sp>
      <p:sp>
        <p:nvSpPr>
          <p:cNvPr id="13" name="Shape 9"/>
          <p:cNvSpPr/>
          <p:nvPr/>
        </p:nvSpPr>
        <p:spPr>
          <a:xfrm>
            <a:off x="8001000" y="1883664"/>
            <a:ext cx="475488" cy="475488"/>
          </a:xfrm>
          <a:prstGeom prst="ellipse">
            <a:avLst/>
          </a:prstGeom>
          <a:solidFill>
            <a:srgbClr val="8874C0"/>
          </a:solidFill>
          <a:ln/>
        </p:spPr>
        <p:txBody>
          <a:bodyPr/>
          <a:lstStyle/>
          <a:p>
            <a:endParaRPr lang="en-IN"/>
          </a:p>
        </p:txBody>
      </p:sp>
      <p:pic>
        <p:nvPicPr>
          <p:cNvPr id="14" name="Image 2" descr="/home/claude/assets/cart.png"/>
          <p:cNvPicPr>
            <a:picLocks noChangeAspect="1"/>
          </p:cNvPicPr>
          <p:nvPr/>
        </p:nvPicPr>
        <p:blipFill>
          <a:blip r:embed="rId5"/>
          <a:stretch>
            <a:fillRect/>
          </a:stretch>
        </p:blipFill>
        <p:spPr>
          <a:xfrm>
            <a:off x="8105607" y="1988271"/>
            <a:ext cx="266273" cy="266273"/>
          </a:xfrm>
          <a:prstGeom prst="rect">
            <a:avLst/>
          </a:prstGeom>
        </p:spPr>
      </p:pic>
      <p:sp>
        <p:nvSpPr>
          <p:cNvPr id="15" name="Text 10"/>
          <p:cNvSpPr/>
          <p:nvPr/>
        </p:nvSpPr>
        <p:spPr>
          <a:xfrm>
            <a:off x="8613648" y="1737360"/>
            <a:ext cx="2926080" cy="777240"/>
          </a:xfrm>
          <a:prstGeom prst="rect">
            <a:avLst/>
          </a:prstGeom>
          <a:noFill/>
          <a:ln/>
        </p:spPr>
        <p:txBody>
          <a:bodyPr wrap="square" lIns="0" tIns="0" rIns="0" bIns="0" rtlCol="0" anchor="ctr"/>
          <a:lstStyle/>
          <a:p>
            <a:pPr marL="0" indent="0">
              <a:buNone/>
            </a:pPr>
            <a:r>
              <a:rPr lang="en-US" sz="1250" b="1" dirty="0">
                <a:solidFill>
                  <a:srgbClr val="4A3F6B"/>
                </a:solidFill>
                <a:latin typeface="Calibri" pitchFamily="34" charset="0"/>
                <a:ea typeface="Calibri" pitchFamily="34" charset="-122"/>
                <a:cs typeface="Calibri" pitchFamily="34" charset="-120"/>
              </a:rPr>
              <a:t>Orders analyzed</a:t>
            </a:r>
            <a:endParaRPr lang="en-US" sz="1250" dirty="0"/>
          </a:p>
        </p:txBody>
      </p:sp>
      <p:sp>
        <p:nvSpPr>
          <p:cNvPr id="16" name="Shape 11"/>
          <p:cNvSpPr/>
          <p:nvPr/>
        </p:nvSpPr>
        <p:spPr>
          <a:xfrm>
            <a:off x="7818120" y="2697480"/>
            <a:ext cx="3822192" cy="777240"/>
          </a:xfrm>
          <a:prstGeom prst="roundRect">
            <a:avLst>
              <a:gd name="adj" fmla="val 9412"/>
            </a:avLst>
          </a:prstGeom>
          <a:solidFill>
            <a:srgbClr val="FFFFFF"/>
          </a:solidFill>
          <a:ln w="12700">
            <a:solidFill>
              <a:srgbClr val="E4DBFF"/>
            </a:solidFill>
            <a:prstDash val="solid"/>
          </a:ln>
          <a:effectLst>
            <a:outerShdw blurRad="101600" dist="25400" dir="5400000" algn="bl" rotWithShape="0">
              <a:srgbClr val="9B8AC4">
                <a:alpha val="16000"/>
              </a:srgbClr>
            </a:outerShdw>
          </a:effectLst>
        </p:spPr>
        <p:txBody>
          <a:bodyPr/>
          <a:lstStyle/>
          <a:p>
            <a:endParaRPr lang="en-IN"/>
          </a:p>
        </p:txBody>
      </p:sp>
      <p:sp>
        <p:nvSpPr>
          <p:cNvPr id="17" name="Shape 12"/>
          <p:cNvSpPr/>
          <p:nvPr/>
        </p:nvSpPr>
        <p:spPr>
          <a:xfrm>
            <a:off x="8001000" y="2843784"/>
            <a:ext cx="475488" cy="475488"/>
          </a:xfrm>
          <a:prstGeom prst="ellipse">
            <a:avLst/>
          </a:prstGeom>
          <a:solidFill>
            <a:srgbClr val="8874C0"/>
          </a:solidFill>
          <a:ln/>
        </p:spPr>
        <p:txBody>
          <a:bodyPr/>
          <a:lstStyle/>
          <a:p>
            <a:endParaRPr lang="en-IN"/>
          </a:p>
        </p:txBody>
      </p:sp>
      <p:pic>
        <p:nvPicPr>
          <p:cNvPr id="18" name="Image 3" descr="/home/claude/assets/users.png"/>
          <p:cNvPicPr>
            <a:picLocks noChangeAspect="1"/>
          </p:cNvPicPr>
          <p:nvPr/>
        </p:nvPicPr>
        <p:blipFill>
          <a:blip r:embed="rId6"/>
          <a:stretch>
            <a:fillRect/>
          </a:stretch>
        </p:blipFill>
        <p:spPr>
          <a:xfrm>
            <a:off x="8105607" y="2948391"/>
            <a:ext cx="266273" cy="266273"/>
          </a:xfrm>
          <a:prstGeom prst="rect">
            <a:avLst/>
          </a:prstGeom>
        </p:spPr>
      </p:pic>
      <p:sp>
        <p:nvSpPr>
          <p:cNvPr id="19" name="Text 13"/>
          <p:cNvSpPr/>
          <p:nvPr/>
        </p:nvSpPr>
        <p:spPr>
          <a:xfrm>
            <a:off x="8613648" y="2697480"/>
            <a:ext cx="2926080" cy="777240"/>
          </a:xfrm>
          <a:prstGeom prst="rect">
            <a:avLst/>
          </a:prstGeom>
          <a:noFill/>
          <a:ln/>
        </p:spPr>
        <p:txBody>
          <a:bodyPr wrap="square" lIns="0" tIns="0" rIns="0" bIns="0" rtlCol="0" anchor="ctr"/>
          <a:lstStyle/>
          <a:p>
            <a:pPr marL="0" indent="0">
              <a:buNone/>
            </a:pPr>
            <a:r>
              <a:rPr lang="en-US" sz="1250" b="1" dirty="0">
                <a:solidFill>
                  <a:srgbClr val="4A3F6B"/>
                </a:solidFill>
                <a:latin typeface="Calibri" pitchFamily="34" charset="0"/>
                <a:ea typeface="Calibri" pitchFamily="34" charset="-122"/>
                <a:cs typeface="Calibri" pitchFamily="34" charset="-120"/>
              </a:rPr>
              <a:t>69 new customers tracked</a:t>
            </a:r>
            <a:endParaRPr lang="en-US" sz="1250" dirty="0"/>
          </a:p>
        </p:txBody>
      </p:sp>
      <p:sp>
        <p:nvSpPr>
          <p:cNvPr id="20" name="Shape 14"/>
          <p:cNvSpPr/>
          <p:nvPr/>
        </p:nvSpPr>
        <p:spPr>
          <a:xfrm>
            <a:off x="7818120" y="3657600"/>
            <a:ext cx="3822192" cy="777240"/>
          </a:xfrm>
          <a:prstGeom prst="roundRect">
            <a:avLst>
              <a:gd name="adj" fmla="val 9412"/>
            </a:avLst>
          </a:prstGeom>
          <a:solidFill>
            <a:srgbClr val="FFFFFF"/>
          </a:solidFill>
          <a:ln w="12700">
            <a:solidFill>
              <a:srgbClr val="E4DBFF"/>
            </a:solidFill>
            <a:prstDash val="solid"/>
          </a:ln>
          <a:effectLst>
            <a:outerShdw blurRad="101600" dist="25400" dir="5400000" algn="bl" rotWithShape="0">
              <a:srgbClr val="9B8AC4">
                <a:alpha val="16000"/>
              </a:srgbClr>
            </a:outerShdw>
          </a:effectLst>
        </p:spPr>
        <p:txBody>
          <a:bodyPr/>
          <a:lstStyle/>
          <a:p>
            <a:endParaRPr lang="en-IN"/>
          </a:p>
        </p:txBody>
      </p:sp>
      <p:sp>
        <p:nvSpPr>
          <p:cNvPr id="21" name="Shape 15"/>
          <p:cNvSpPr/>
          <p:nvPr/>
        </p:nvSpPr>
        <p:spPr>
          <a:xfrm>
            <a:off x="8001000" y="3803904"/>
            <a:ext cx="475488" cy="475488"/>
          </a:xfrm>
          <a:prstGeom prst="ellipse">
            <a:avLst/>
          </a:prstGeom>
          <a:solidFill>
            <a:srgbClr val="8874C0"/>
          </a:solidFill>
          <a:ln/>
        </p:spPr>
        <p:txBody>
          <a:bodyPr/>
          <a:lstStyle/>
          <a:p>
            <a:endParaRPr lang="en-IN"/>
          </a:p>
        </p:txBody>
      </p:sp>
      <p:pic>
        <p:nvPicPr>
          <p:cNvPr id="22" name="Image 4" descr="/home/claude/assets/truck.png"/>
          <p:cNvPicPr>
            <a:picLocks noChangeAspect="1"/>
          </p:cNvPicPr>
          <p:nvPr/>
        </p:nvPicPr>
        <p:blipFill>
          <a:blip r:embed="rId7"/>
          <a:stretch>
            <a:fillRect/>
          </a:stretch>
        </p:blipFill>
        <p:spPr>
          <a:xfrm>
            <a:off x="8105607" y="3908511"/>
            <a:ext cx="266273" cy="266273"/>
          </a:xfrm>
          <a:prstGeom prst="rect">
            <a:avLst/>
          </a:prstGeom>
        </p:spPr>
      </p:pic>
      <p:sp>
        <p:nvSpPr>
          <p:cNvPr id="23" name="Text 16"/>
          <p:cNvSpPr/>
          <p:nvPr/>
        </p:nvSpPr>
        <p:spPr>
          <a:xfrm>
            <a:off x="8613648" y="3657600"/>
            <a:ext cx="2926080" cy="777240"/>
          </a:xfrm>
          <a:prstGeom prst="rect">
            <a:avLst/>
          </a:prstGeom>
          <a:noFill/>
          <a:ln/>
        </p:spPr>
        <p:txBody>
          <a:bodyPr wrap="square" lIns="0" tIns="0" rIns="0" bIns="0" rtlCol="0" anchor="ctr"/>
          <a:lstStyle/>
          <a:p>
            <a:pPr marL="0" indent="0">
              <a:buNone/>
            </a:pPr>
            <a:r>
              <a:rPr lang="en-US" sz="1250" b="1" dirty="0">
                <a:solidFill>
                  <a:srgbClr val="4A3F6B"/>
                </a:solidFill>
                <a:latin typeface="Calibri" pitchFamily="34" charset="0"/>
                <a:ea typeface="Calibri" pitchFamily="34" charset="-122"/>
                <a:cs typeface="Calibri" pitchFamily="34" charset="-120"/>
              </a:rPr>
              <a:t>Delivery performance monitored</a:t>
            </a:r>
            <a:endParaRPr lang="en-US" sz="1250" dirty="0"/>
          </a:p>
        </p:txBody>
      </p:sp>
      <p:sp>
        <p:nvSpPr>
          <p:cNvPr id="24" name="Text 17"/>
          <p:cNvSpPr/>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8079A0"/>
                </a:solidFill>
                <a:latin typeface="Calibri" pitchFamily="34" charset="0"/>
                <a:ea typeface="Calibri" pitchFamily="34" charset="-122"/>
                <a:cs typeface="Calibri" pitchFamily="34" charset="-120"/>
              </a:rPr>
              <a:t>Centre of Excellence for AI  |  E-commerce Customer Analytics</a:t>
            </a:r>
            <a:endParaRPr lang="en-US" sz="900" dirty="0"/>
          </a:p>
        </p:txBody>
      </p:sp>
    </p:spTree>
  </p:cSld>
  <p:clrMapOvr>
    <a:masterClrMapping/>
  </p:clrMapOvr>
</p:sld>
</file>

<file path=ppt/theme/theme1.xml><?xml version="1.0" encoding="utf-8"?>
<a:theme xmlns:a="http://schemas.openxmlformats.org/drawingml/2006/main" name="Orange Experience">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Custom 40">
      <a:majorFont>
        <a:latin typeface="Oswald SemiBold"/>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 experience" id="{9BAA8FFB-1EEF-49AC-B7FF-0F37799585E9}" vid="{6523F788-A6E6-47B0-B3C7-625411BE5A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Orange Experience</Template>
  <TotalTime>153</TotalTime>
  <Words>798</Words>
  <Application>Microsoft Office PowerPoint</Application>
  <PresentationFormat>Widescreen</PresentationFormat>
  <Paragraphs>118</Paragraphs>
  <Slides>10</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Cambria</vt:lpstr>
      <vt:lpstr>Oswald SemiBold</vt:lpstr>
      <vt:lpstr>Univers Condensed Light</vt:lpstr>
      <vt:lpstr>Orange Experience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Shreshta Saha</cp:lastModifiedBy>
  <cp:revision>8</cp:revision>
  <dcterms:created xsi:type="dcterms:W3CDTF">2026-08-04T05:26:33Z</dcterms:created>
  <dcterms:modified xsi:type="dcterms:W3CDTF">2026-08-04T09:33:43Z</dcterms:modified>
</cp:coreProperties>
</file>